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5e258cbaebe84bc9" /><Relationship Type="http://schemas.openxmlformats.org/officeDocument/2006/relationships/extended-properties" Target="/docProps/app.xml" Id="R51b3a791e2f7462a" /><Relationship Type="http://schemas.openxmlformats.org/officeDocument/2006/relationships/officeDocument" Target="/ppt/presentation.xml" Id="Ra83f63153faf4510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4ae20c95a8584913"/>
  </p:sldMasterIdLst>
  <p:notesMasterIdLst>
    <p:notesMasterId xmlns:r="http://schemas.openxmlformats.org/officeDocument/2006/relationships" r:id="R21c51a341dd640e7"/>
  </p:notesMasterIdLst>
  <p:sldIdLst>
    <p:sldId xmlns:r="http://schemas.openxmlformats.org/officeDocument/2006/relationships" id="256" r:id="R976de5a14a724827"/>
    <p:sldId xmlns:r="http://schemas.openxmlformats.org/officeDocument/2006/relationships" id="257" r:id="Rbff0329ea09b426a"/>
    <p:sldId xmlns:r="http://schemas.openxmlformats.org/officeDocument/2006/relationships" id="258" r:id="Rc04b4d54c7954ba2"/>
    <p:sldId xmlns:r="http://schemas.openxmlformats.org/officeDocument/2006/relationships" id="259" r:id="R31ca879611d24218"/>
    <p:sldId xmlns:r="http://schemas.openxmlformats.org/officeDocument/2006/relationships" id="260" r:id="R97d8bab0c6ab4958"/>
    <p:sldId xmlns:r="http://schemas.openxmlformats.org/officeDocument/2006/relationships" id="261" r:id="R778c3b81f73b4aac"/>
    <p:sldId xmlns:r="http://schemas.openxmlformats.org/officeDocument/2006/relationships" id="262" r:id="Rccfa70c7533f4a57"/>
    <p:sldId xmlns:r="http://schemas.openxmlformats.org/officeDocument/2006/relationships" id="263" r:id="Rd6ef8345c66a4a26"/>
    <p:sldId xmlns:r="http://schemas.openxmlformats.org/officeDocument/2006/relationships" id="264" r:id="Rf7b36c8fd8d64e98"/>
    <p:sldId xmlns:r="http://schemas.openxmlformats.org/officeDocument/2006/relationships" id="265" r:id="R770d752de4c146d6"/>
    <p:sldId xmlns:r="http://schemas.openxmlformats.org/officeDocument/2006/relationships" id="266" r:id="R0e080ef7bf8443cf"/>
    <p:sldId xmlns:r="http://schemas.openxmlformats.org/officeDocument/2006/relationships" id="267" r:id="Rdfddc57b452b45e2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652a3f9f40d04682" /><Relationship Type="http://schemas.openxmlformats.org/officeDocument/2006/relationships/slideMaster" Target="/ppt/slideMasters/slideMaster1.xml" Id="R4ae20c95a8584913" /><Relationship Type="http://schemas.openxmlformats.org/officeDocument/2006/relationships/notesMaster" Target="/ppt/notesMasters/notesMaster1.xml" Id="R21c51a341dd640e7" /><Relationship Type="http://schemas.openxmlformats.org/officeDocument/2006/relationships/presProps" Target="/ppt/presProps.xml" Id="R84be7f7aca2f47bf" /><Relationship Type="http://schemas.openxmlformats.org/officeDocument/2006/relationships/tableStyles" Target="/ppt/tableStyles.xml" Id="R321cc6cb96604ca8" /><Relationship Type="http://schemas.openxmlformats.org/officeDocument/2006/relationships/slide" Target="/ppt/slides/slide1.xml" Id="R976de5a14a724827" /><Relationship Type="http://schemas.openxmlformats.org/officeDocument/2006/relationships/slide" Target="/ppt/slides/slide2.xml" Id="Rbff0329ea09b426a" /><Relationship Type="http://schemas.openxmlformats.org/officeDocument/2006/relationships/slide" Target="/ppt/slides/slide3.xml" Id="Rc04b4d54c7954ba2" /><Relationship Type="http://schemas.openxmlformats.org/officeDocument/2006/relationships/slide" Target="/ppt/slides/slide4.xml" Id="R31ca879611d24218" /><Relationship Type="http://schemas.openxmlformats.org/officeDocument/2006/relationships/slide" Target="/ppt/slides/slide5.xml" Id="R97d8bab0c6ab4958" /><Relationship Type="http://schemas.openxmlformats.org/officeDocument/2006/relationships/slide" Target="/ppt/slides/slide6.xml" Id="R778c3b81f73b4aac" /><Relationship Type="http://schemas.openxmlformats.org/officeDocument/2006/relationships/slide" Target="/ppt/slides/slide7.xml" Id="Rccfa70c7533f4a57" /><Relationship Type="http://schemas.openxmlformats.org/officeDocument/2006/relationships/slide" Target="/ppt/slides/slide8.xml" Id="Rd6ef8345c66a4a26" /><Relationship Type="http://schemas.openxmlformats.org/officeDocument/2006/relationships/slide" Target="/ppt/slides/slide9.xml" Id="Rf7b36c8fd8d64e98" /><Relationship Type="http://schemas.openxmlformats.org/officeDocument/2006/relationships/slide" Target="/ppt/slides/slide10.xml" Id="R770d752de4c146d6" /><Relationship Type="http://schemas.openxmlformats.org/officeDocument/2006/relationships/slide" Target="/ppt/slides/slide11.xml" Id="R0e080ef7bf8443cf" /><Relationship Type="http://schemas.openxmlformats.org/officeDocument/2006/relationships/slide" Target="/ppt/slides/slide12.xml" Id="Rdfddc57b452b45e2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726db9f3405c4cf4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00354c2f335e4cf8" /><Relationship Type="http://schemas.openxmlformats.org/officeDocument/2006/relationships/notesMaster" Target="/ppt/notesMasters/notesMaster1.xml" Id="R7e2533801fd446e3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10b5095e200b40de" /><Relationship Type="http://schemas.openxmlformats.org/officeDocument/2006/relationships/notesMaster" Target="/ppt/notesMasters/notesMaster1.xml" Id="R2e2dc0bb5abf4ace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cad7ddec0b9f47c3" /><Relationship Type="http://schemas.openxmlformats.org/officeDocument/2006/relationships/notesMaster" Target="/ppt/notesMasters/notesMaster1.xml" Id="R9a773484a19f4710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38ea420655894f06" /><Relationship Type="http://schemas.openxmlformats.org/officeDocument/2006/relationships/notesMaster" Target="/ppt/notesMasters/notesMaster1.xml" Id="R0a6f421550c5474e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6a1740a6c6044d1c" /><Relationship Type="http://schemas.openxmlformats.org/officeDocument/2006/relationships/notesMaster" Target="/ppt/notesMasters/notesMaster1.xml" Id="R381c78b76e9146c3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71ae5b51b3b54a40" /><Relationship Type="http://schemas.openxmlformats.org/officeDocument/2006/relationships/notesMaster" Target="/ppt/notesMasters/notesMaster1.xml" Id="R857d84cc635a4eb3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92bf1aaffd6f4e6a" /><Relationship Type="http://schemas.openxmlformats.org/officeDocument/2006/relationships/notesMaster" Target="/ppt/notesMasters/notesMaster1.xml" Id="R15d9289a3d1f4c58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b07a6c138a9a4b7b" /><Relationship Type="http://schemas.openxmlformats.org/officeDocument/2006/relationships/notesMaster" Target="/ppt/notesMasters/notesMaster1.xml" Id="R18effa89971144a8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badd60d8d1e5442c" /><Relationship Type="http://schemas.openxmlformats.org/officeDocument/2006/relationships/notesMaster" Target="/ppt/notesMasters/notesMaster1.xml" Id="Re0d1fa94856943c2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53cd98e1d83c4e9c" /><Relationship Type="http://schemas.openxmlformats.org/officeDocument/2006/relationships/notesMaster" Target="/ppt/notesMasters/notesMaster1.xml" Id="R12c184da657e4245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d30a7c8f2e7a488d" /><Relationship Type="http://schemas.openxmlformats.org/officeDocument/2006/relationships/notesMaster" Target="/ppt/notesMasters/notesMaster1.xml" Id="Ra5684f0db5bf48ad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43185f7574ce4885" /><Relationship Type="http://schemas.openxmlformats.org/officeDocument/2006/relationships/notesMaster" Target="/ppt/notesMasters/notesMaster1.xml" Id="R097d5525ccae40a8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c1b1640851d41e3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99e1fb8aa2eb4c66" /><Relationship Type="http://schemas.openxmlformats.org/officeDocument/2006/relationships/slideLayout" Target="/ppt/slideLayouts/slideLayout1.xml" Id="Rba49cf41fc554e25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ba49cf41fc554e25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c707487d77f4cb4" /><Relationship Type="http://schemas.openxmlformats.org/officeDocument/2006/relationships/notesSlide" Target="/ppt/notesSlides/notesSlide1.xml" Id="Rf6a4655bfda442be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e7f03d763f048ef" /><Relationship Type="http://schemas.openxmlformats.org/officeDocument/2006/relationships/notesSlide" Target="/ppt/notesSlides/notesSlide2.xml" Id="R608adc24bd814dbf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9f2381354db4cd3" /><Relationship Type="http://schemas.openxmlformats.org/officeDocument/2006/relationships/notesSlide" Target="/ppt/notesSlides/notesSlide3.xml" Id="R6258ccf8e5b04848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0cfa848e4a34a75" /><Relationship Type="http://schemas.openxmlformats.org/officeDocument/2006/relationships/notesSlide" Target="/ppt/notesSlides/notesSlide4.xml" Id="R3eedfc047cf246d2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1a89af9c00b4863" /><Relationship Type="http://schemas.openxmlformats.org/officeDocument/2006/relationships/image" Target="/ppt/media/image.png" Id="R6e78f972ec814281" /><Relationship Type="http://schemas.openxmlformats.org/officeDocument/2006/relationships/notesSlide" Target="/ppt/notesSlides/notesSlide5.xml" Id="R1d7e09edc3cc47e7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1700d86d1b046eb" /><Relationship Type="http://schemas.openxmlformats.org/officeDocument/2006/relationships/image" Target="/ppt/media/image2.png" Id="R2997b450b00e4bc4" /><Relationship Type="http://schemas.openxmlformats.org/officeDocument/2006/relationships/notesSlide" Target="/ppt/notesSlides/notesSlide6.xml" Id="Rf085f448a08246d3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210160c28ac4a17" /><Relationship Type="http://schemas.openxmlformats.org/officeDocument/2006/relationships/image" Target="/ppt/media/image3.png" Id="R1be4cdb32c674129" /><Relationship Type="http://schemas.openxmlformats.org/officeDocument/2006/relationships/notesSlide" Target="/ppt/notesSlides/notesSlide7.xml" Id="R6574cd7bcb264078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ab739eca03c4eb7" /><Relationship Type="http://schemas.openxmlformats.org/officeDocument/2006/relationships/image" Target="/ppt/media/image4.png" Id="R7d695b11a7974e27" /><Relationship Type="http://schemas.openxmlformats.org/officeDocument/2006/relationships/notesSlide" Target="/ppt/notesSlides/notesSlide8.xml" Id="Rc8c97f75ea63401d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932ee6efdd34d22" /><Relationship Type="http://schemas.openxmlformats.org/officeDocument/2006/relationships/image" Target="/ppt/media/image5.png" Id="R8d4c9d0342e347ce" /><Relationship Type="http://schemas.openxmlformats.org/officeDocument/2006/relationships/notesSlide" Target="/ppt/notesSlides/notesSlide9.xml" Id="R838439c21fc34757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e159aa99959483b" /><Relationship Type="http://schemas.openxmlformats.org/officeDocument/2006/relationships/notesSlide" Target="/ppt/notesSlides/notesSlide10.xml" Id="R77c84887e49d476a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82bc8308fcd4db5" /><Relationship Type="http://schemas.openxmlformats.org/officeDocument/2006/relationships/notesSlide" Target="/ppt/notesSlides/notesSlide11.xml" Id="R10382347bb324c03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585cdadba2b4e74" /><Relationship Type="http://schemas.openxmlformats.org/officeDocument/2006/relationships/notesSlide" Target="/ppt/notesSlides/notesSlide12.xml" Id="R67de579d9cf94634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AF9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5FF77985-4115-409A-9D5E-13EC5EED54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85725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750" b="1">
                <a:solidFill>
                  <a:srgbClr val="222222"/>
                </a:solidFill>
              </a:defRPr>
            </a:pPr>
            <a:r>
              <a:rPr sz="3750" b="1">
                <a:solidFill>
                  <a:srgbClr val="222222"/>
                </a:solidFill>
              </a:rPr>
              <a:t>노력하면 성공할 수 있을까?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07A3F4C-AC67-4A16-840D-66F67A81DE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619375"/>
            <a:ext cx="9334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2F7D95"/>
                </a:solidFill>
              </a:defRPr>
            </a:pPr>
            <a:r>
              <a:rPr sz="1800" b="0">
                <a:solidFill>
                  <a:srgbClr val="2F7D95"/>
                </a:solidFill>
              </a:rPr>
              <a:t>자산 격차 시대, 한국인이 생각하는 성공 공식은 어떻게 바뀌었나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D8F213C-13E1-41D1-AFCD-050E514488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476625"/>
            <a:ext cx="7239000" cy="723900"/>
          </a:xfrm>
          <a:prstGeom xmlns:a="http://schemas.openxmlformats.org/drawingml/2006/main" prst="roundRect">
            <a:avLst>
              <a:gd name="adj" fmla="val 21053"/>
            </a:avLst>
          </a:prstGeom>
          <a:solidFill xmlns:a="http://schemas.openxmlformats.org/drawingml/2006/main">
            <a:srgbClr val="E7F2E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3AFB914-E3EB-4A17-BF60-1EC72E657B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600450"/>
            <a:ext cx="6858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222222"/>
                </a:solidFill>
              </a:defRPr>
            </a:pPr>
            <a:r>
              <a:rPr sz="1650" b="1">
                <a:solidFill>
                  <a:srgbClr val="222222"/>
                </a:solidFill>
              </a:rPr>
              <a:t>한국인은 노력을 버린 것이 아니라,</a:t>
            </a:r>
          </a:p>
          <a:p xmlns:a="http://schemas.openxmlformats.org/drawingml/2006/main">
            <a:pPr algn="l">
              <a:defRPr sz="1650" b="1">
                <a:solidFill>
                  <a:srgbClr val="222222"/>
                </a:solidFill>
              </a:defRPr>
            </a:pPr>
            <a:r>
              <a:rPr sz="1650" b="1">
                <a:solidFill>
                  <a:srgbClr val="222222"/>
                </a:solidFill>
              </a:rPr>
              <a:t>성공을 노력 하나만으로 설명하지 않게 되었다.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A7CF065-FDB6-4730-93DA-444075FB22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000750"/>
            <a:ext cx="857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F6F6F"/>
                </a:solidFill>
              </a:defRPr>
            </a:pPr>
            <a:r>
              <a:rPr sz="1200" b="0">
                <a:solidFill>
                  <a:srgbClr val="6F6F6F"/>
                </a:solidFill>
              </a:rPr>
              <a:t>KGSS 2003-2025 누적자료 중심 · 가계금융복지조사 보조 분석</a:t>
            </a:r>
          </a:p>
        </p:txBody>
      </p:sp>
    </p:spTree>
    <p:extLst>
      <p:ext uri="{BB962C8B-B14F-4D97-AF65-F5344CB8AC3E}">
        <p14:creationId xmlns:p14="http://schemas.microsoft.com/office/powerpoint/2010/main" val="356247195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AF9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79ECF6A6-F95B-46A5-BD57-DF20EFFC19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23850"/>
            <a:ext cx="247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2F7D95"/>
                </a:solidFill>
              </a:defRPr>
            </a:pPr>
            <a:r>
              <a:rPr sz="1200" b="1">
                <a:solidFill>
                  <a:srgbClr val="2F7D95"/>
                </a:solidFill>
              </a:rPr>
              <a:t>01 | 문제 제기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CCB3B65-0AFF-42C4-9D51-B7DEE130EF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85800"/>
            <a:ext cx="10668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222222"/>
                </a:solidFill>
              </a:defRPr>
            </a:pPr>
            <a:r>
              <a:rPr sz="2700" b="1">
                <a:solidFill>
                  <a:srgbClr val="222222"/>
                </a:solidFill>
              </a:rPr>
              <a:t>한국인은 아직도 “노력하면 성공한다”고 믿을까?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5EED18C-8B83-4959-A1D9-5AB66EFA93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238250"/>
            <a:ext cx="10668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2F7D95"/>
                </a:solidFill>
              </a:defRPr>
            </a:pPr>
            <a:r>
              <a:rPr sz="1425" b="0">
                <a:solidFill>
                  <a:srgbClr val="2F7D95"/>
                </a:solidFill>
              </a:rPr>
              <a:t>통념은 ‘노력의 약화’를 말하지만, 데이터 질문은 더 좁고 정확해야 한다.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F2F1426-03D7-4C3F-BAAD-AD5EC75A3F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00250"/>
            <a:ext cx="3238500" cy="228600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F0F2F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C81FC93-BA83-4E71-A6AF-AAF96AF248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266950"/>
            <a:ext cx="2095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222222"/>
                </a:solidFill>
              </a:defRPr>
            </a:pPr>
            <a:r>
              <a:rPr sz="1950" b="1">
                <a:solidFill>
                  <a:srgbClr val="222222"/>
                </a:solidFill>
              </a:rPr>
              <a:t>통념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2608868-A660-4DB0-B514-6C1D061940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857500"/>
            <a:ext cx="24765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6F6F6F"/>
                </a:solidFill>
              </a:defRPr>
            </a:pPr>
            <a:r>
              <a:rPr sz="1650" b="0">
                <a:solidFill>
                  <a:srgbClr val="6F6F6F"/>
                </a:solidFill>
              </a:rPr>
              <a:t>요즘 한국인은 더 이상</a:t>
            </a:r>
          </a:p>
          <a:p xmlns:a="http://schemas.openxmlformats.org/drawingml/2006/main">
            <a:pPr algn="l">
              <a:defRPr sz="1650" b="0">
                <a:solidFill>
                  <a:srgbClr val="6F6F6F"/>
                </a:solidFill>
              </a:defRPr>
            </a:pPr>
            <a:r>
              <a:rPr sz="1650" b="0">
                <a:solidFill>
                  <a:srgbClr val="6F6F6F"/>
                </a:solidFill>
              </a:rPr>
              <a:t>노력의 성공 공식을</a:t>
            </a:r>
          </a:p>
          <a:p xmlns:a="http://schemas.openxmlformats.org/drawingml/2006/main">
            <a:pPr algn="l">
              <a:defRPr sz="1650" b="0">
                <a:solidFill>
                  <a:srgbClr val="6F6F6F"/>
                </a:solidFill>
              </a:defRPr>
            </a:pPr>
            <a:r>
              <a:rPr sz="1650" b="0">
                <a:solidFill>
                  <a:srgbClr val="6F6F6F"/>
                </a:solidFill>
              </a:rPr>
              <a:t>믿지 않는 것처럼 말한다.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CFE1E0C-C2E0-46CB-B6BD-83C2DD1C91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2000250"/>
            <a:ext cx="3238500" cy="228600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F5EAE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498FA15-CC33-4C95-9981-0BBEDAD41F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24400" y="2266950"/>
            <a:ext cx="2095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222222"/>
                </a:solidFill>
              </a:defRPr>
            </a:pPr>
            <a:r>
              <a:rPr sz="1950" b="1">
                <a:solidFill>
                  <a:srgbClr val="222222"/>
                </a:solidFill>
              </a:rPr>
              <a:t>반문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B57903E-24EC-48A1-915C-026158A486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24400" y="2857500"/>
            <a:ext cx="24765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6F6F6F"/>
                </a:solidFill>
              </a:defRPr>
            </a:pPr>
            <a:r>
              <a:rPr sz="1650" b="0">
                <a:solidFill>
                  <a:srgbClr val="6F6F6F"/>
                </a:solidFill>
              </a:rPr>
              <a:t>정말 노력을 버린 걸까?</a:t>
            </a:r>
          </a:p>
          <a:p xmlns:a="http://schemas.openxmlformats.org/drawingml/2006/main">
            <a:pPr algn="l">
              <a:defRPr sz="1650" b="0">
                <a:solidFill>
                  <a:srgbClr val="6F6F6F"/>
                </a:solidFill>
              </a:defRPr>
            </a:pPr>
            <a:r>
              <a:rPr sz="1650" b="0">
                <a:solidFill>
                  <a:srgbClr val="6F6F6F"/>
                </a:solidFill>
              </a:rPr>
              <a:t>아니면 성공을 설명하는</a:t>
            </a:r>
          </a:p>
          <a:p xmlns:a="http://schemas.openxmlformats.org/drawingml/2006/main">
            <a:pPr algn="l">
              <a:defRPr sz="1650" b="0">
                <a:solidFill>
                  <a:srgbClr val="6F6F6F"/>
                </a:solidFill>
              </a:defRPr>
            </a:pPr>
            <a:r>
              <a:rPr sz="1650" b="0">
                <a:solidFill>
                  <a:srgbClr val="6F6F6F"/>
                </a:solidFill>
              </a:rPr>
              <a:t>조건이 늘어난 걸까?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3F3DF31-0493-4A3A-9C0B-F5B5D81794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2000250"/>
            <a:ext cx="3238500" cy="228600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E7F2E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0D484C0-7E11-4336-8CA2-67A4ECF059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2266950"/>
            <a:ext cx="2095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222222"/>
                </a:solidFill>
              </a:defRPr>
            </a:pPr>
            <a:r>
              <a:rPr sz="1950" b="1">
                <a:solidFill>
                  <a:srgbClr val="222222"/>
                </a:solidFill>
              </a:rPr>
              <a:t>분석 질문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CD8D0EE-24BF-4A06-8E2A-9A47E6FB84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2857500"/>
            <a:ext cx="24765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6F6F6F"/>
                </a:solidFill>
              </a:defRPr>
            </a:pPr>
            <a:r>
              <a:rPr sz="1650" b="0">
                <a:solidFill>
                  <a:srgbClr val="6F6F6F"/>
                </a:solidFill>
              </a:rPr>
              <a:t>성공하는 데 무엇이</a:t>
            </a:r>
          </a:p>
          <a:p xmlns:a="http://schemas.openxmlformats.org/drawingml/2006/main">
            <a:pPr algn="l">
              <a:defRPr sz="1650" b="0">
                <a:solidFill>
                  <a:srgbClr val="6F6F6F"/>
                </a:solidFill>
              </a:defRPr>
            </a:pPr>
            <a:r>
              <a:rPr sz="1650" b="0">
                <a:solidFill>
                  <a:srgbClr val="6F6F6F"/>
                </a:solidFill>
              </a:rPr>
              <a:t>중요하다고 보는지를</a:t>
            </a:r>
          </a:p>
          <a:p xmlns:a="http://schemas.openxmlformats.org/drawingml/2006/main">
            <a:pPr algn="l">
              <a:defRPr sz="1650" b="0">
                <a:solidFill>
                  <a:srgbClr val="6F6F6F"/>
                </a:solidFill>
              </a:defRPr>
            </a:pPr>
            <a:r>
              <a:rPr sz="1650" b="0">
                <a:solidFill>
                  <a:srgbClr val="6F6F6F"/>
                </a:solidFill>
              </a:rPr>
              <a:t>KGSS로 확인한다.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EB2080C-975F-48AD-9EC5-BECE7FA694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095875"/>
            <a:ext cx="10668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C65A3A"/>
                </a:solidFill>
              </a:defRPr>
            </a:pPr>
            <a:r>
              <a:rPr sz="1425" b="1">
                <a:solidFill>
                  <a:srgbClr val="C65A3A"/>
                </a:solidFill>
              </a:rPr>
              <a:t>주의: KGSS는 실제 성공 가능성이나 성공의 원인을 직접 검증하는 자료가 아니라, 성공 요인에 대한 인식 자료다.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3B8C8EE-F54C-48C3-AD0F-AADFE82D2C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96050"/>
            <a:ext cx="11277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F6F6F"/>
                </a:solidFill>
              </a:defRPr>
            </a:pPr>
            <a:r>
              <a:rPr sz="900" b="0">
                <a:solidFill>
                  <a:srgbClr val="6F6F6F"/>
                </a:solidFill>
              </a:rPr>
              <a:t>자료: 한국종합사회조사(KGSS) 성공 요인 문항 기반 연구 설계.</a:t>
            </a:r>
          </a:p>
        </p:txBody>
      </p:sp>
    </p:spTree>
    <p:extLst>
      <p:ext uri="{BB962C8B-B14F-4D97-AF65-F5344CB8AC3E}">
        <p14:creationId xmlns:p14="http://schemas.microsoft.com/office/powerpoint/2010/main" val="848204106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AF9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5C357065-0DA0-4664-AF54-A8466DCD32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23850"/>
            <a:ext cx="247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2F7D95"/>
                </a:solidFill>
              </a:defRPr>
            </a:pPr>
            <a:r>
              <a:rPr sz="1200" b="1">
                <a:solidFill>
                  <a:srgbClr val="2F7D95"/>
                </a:solidFill>
              </a:rPr>
              <a:t>02 | 연구 질문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9BC2CAC-5786-48EC-9289-6B9A51183C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85800"/>
            <a:ext cx="10668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222222"/>
                </a:solidFill>
              </a:defRPr>
            </a:pPr>
            <a:r>
              <a:rPr sz="2700" b="1">
                <a:solidFill>
                  <a:srgbClr val="222222"/>
                </a:solidFill>
              </a:rPr>
              <a:t>질문은 ‘노력의 몰락’이 아니라 ‘성공 공식의 변화’다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1826A62-6572-4127-8B97-9A2D8017C3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238250"/>
            <a:ext cx="10668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2F7D95"/>
                </a:solidFill>
              </a:defRPr>
            </a:pPr>
            <a:r>
              <a:rPr sz="1425" b="0">
                <a:solidFill>
                  <a:srgbClr val="2F7D95"/>
                </a:solidFill>
              </a:rPr>
              <a:t>노력·관계·배경·축적 자산 조건을 분리해 본다.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F53C318-20CC-4D73-88B8-F2B3AF3AA4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190750"/>
            <a:ext cx="2095500" cy="1619250"/>
          </a:xfrm>
          <a:prstGeom xmlns:a="http://schemas.openxmlformats.org/drawingml/2006/main" prst="roundRect">
            <a:avLst>
              <a:gd name="adj" fmla="val 9412"/>
            </a:avLst>
          </a:prstGeom>
          <a:solidFill xmlns:a="http://schemas.openxmlformats.org/drawingml/2006/main">
            <a:srgbClr val="E7F2E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458C42A-172E-47AC-B77B-80B9812DE0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476500"/>
            <a:ext cx="16383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222222"/>
                </a:solidFill>
              </a:defRPr>
            </a:pPr>
            <a:r>
              <a:rPr sz="1875" b="1">
                <a:solidFill>
                  <a:srgbClr val="222222"/>
                </a:solidFill>
              </a:rPr>
              <a:t>노력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3EC28CB-055F-424B-85F0-38594B34C4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3048000"/>
            <a:ext cx="1714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6F6F6F"/>
                </a:solidFill>
              </a:defRPr>
            </a:pPr>
            <a:r>
              <a:rPr sz="1350" b="0">
                <a:solidFill>
                  <a:srgbClr val="6F6F6F"/>
                </a:solidFill>
              </a:rPr>
              <a:t>열심히 일하는 것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02E22AA-DBCC-4E94-B764-F33392FDE4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2190750"/>
            <a:ext cx="2095500" cy="1619250"/>
          </a:xfrm>
          <a:prstGeom xmlns:a="http://schemas.openxmlformats.org/drawingml/2006/main" prst="roundRect">
            <a:avLst>
              <a:gd name="adj" fmla="val 9412"/>
            </a:avLst>
          </a:prstGeom>
          <a:solidFill xmlns:a="http://schemas.openxmlformats.org/drawingml/2006/main">
            <a:srgbClr val="E8F0E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7244C22-1B08-4DD5-BC97-ED8F25015B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71900" y="2476500"/>
            <a:ext cx="16383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222222"/>
                </a:solidFill>
              </a:defRPr>
            </a:pPr>
            <a:r>
              <a:rPr sz="1875" b="1">
                <a:solidFill>
                  <a:srgbClr val="222222"/>
                </a:solidFill>
              </a:rPr>
              <a:t>관계 자본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5D2C58E-9E98-404A-8147-65FB7E385C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3048000"/>
            <a:ext cx="1714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6F6F6F"/>
                </a:solidFill>
              </a:defRPr>
            </a:pPr>
            <a:r>
              <a:rPr sz="1350" b="0">
                <a:solidFill>
                  <a:srgbClr val="6F6F6F"/>
                </a:solidFill>
              </a:rPr>
              <a:t>좋은 사람을 아는 것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9FBAE7E-94EA-43F6-A0DF-CB23FA9229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2190750"/>
            <a:ext cx="2095500" cy="1619250"/>
          </a:xfrm>
          <a:prstGeom xmlns:a="http://schemas.openxmlformats.org/drawingml/2006/main" prst="roundRect">
            <a:avLst>
              <a:gd name="adj" fmla="val 9412"/>
            </a:avLst>
          </a:prstGeom>
          <a:solidFill xmlns:a="http://schemas.openxmlformats.org/drawingml/2006/main">
            <a:srgbClr val="F5EAE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B57B982-DEF9-4D71-900C-ACB0D937FD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476500"/>
            <a:ext cx="16383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222222"/>
                </a:solidFill>
              </a:defRPr>
            </a:pPr>
            <a:r>
              <a:rPr sz="1875" b="1">
                <a:solidFill>
                  <a:srgbClr val="222222"/>
                </a:solidFill>
              </a:rPr>
              <a:t>가족 배경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D01E961-D46D-4117-A190-BF82E221D3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3048000"/>
            <a:ext cx="1714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6F6F6F"/>
                </a:solidFill>
              </a:defRPr>
            </a:pPr>
            <a:r>
              <a:rPr sz="1350" b="0">
                <a:solidFill>
                  <a:srgbClr val="6F6F6F"/>
                </a:solidFill>
              </a:rPr>
              <a:t>부유한 집안·부모 교육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B38E462-AFC2-454A-A839-006050974F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2190750"/>
            <a:ext cx="2095500" cy="1619250"/>
          </a:xfrm>
          <a:prstGeom xmlns:a="http://schemas.openxmlformats.org/drawingml/2006/main" prst="roundRect">
            <a:avLst>
              <a:gd name="adj" fmla="val 9412"/>
            </a:avLst>
          </a:prstGeom>
          <a:solidFill xmlns:a="http://schemas.openxmlformats.org/drawingml/2006/main">
            <a:srgbClr val="F0F2F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82F61E0-C8E6-4CE3-9B0C-7ACAF2DC26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82100" y="2476500"/>
            <a:ext cx="16383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222222"/>
                </a:solidFill>
              </a:defRPr>
            </a:pPr>
            <a:r>
              <a:rPr sz="1875" b="1">
                <a:solidFill>
                  <a:srgbClr val="222222"/>
                </a:solidFill>
              </a:rPr>
              <a:t>경제적 배경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E9E4DD5-4437-4335-95B2-9FE8137455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3048000"/>
            <a:ext cx="1714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6F6F6F"/>
                </a:solidFill>
              </a:defRPr>
            </a:pPr>
            <a:r>
              <a:rPr sz="1350" b="0">
                <a:solidFill>
                  <a:srgbClr val="6F6F6F"/>
                </a:solidFill>
              </a:rPr>
              <a:t>현재 소득과 축적 자산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3F516C0-7348-43FA-B9C9-D73095800E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476750"/>
            <a:ext cx="4000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2F7D95"/>
                </a:solidFill>
              </a:defRPr>
            </a:pPr>
            <a:r>
              <a:rPr sz="1500" b="1">
                <a:solidFill>
                  <a:srgbClr val="2F7D95"/>
                </a:solidFill>
              </a:rPr>
              <a:t>핵심 가설이 아니라 해석 방향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81588C5-10E0-4C3E-85FD-BC73F1B08E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02920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7D9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E7C2243-B2F8-4F19-B32C-9587E7905A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4953000"/>
            <a:ext cx="91059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222222"/>
                </a:solidFill>
              </a:defRPr>
            </a:pPr>
            <a:r>
              <a:rPr sz="1350" b="0">
                <a:solidFill>
                  <a:srgbClr val="222222"/>
                </a:solidFill>
              </a:rPr>
              <a:t>노력은 여전히 매우 높게 중요하다고 인식된다.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5FDF921-5E0A-47DF-90AB-65FFBA7F63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39115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7D9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EDA053C-3991-4117-B129-AB815D657E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5314950"/>
            <a:ext cx="91059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222222"/>
                </a:solidFill>
              </a:defRPr>
            </a:pPr>
            <a:r>
              <a:rPr sz="1350" b="0">
                <a:solidFill>
                  <a:srgbClr val="222222"/>
                </a:solidFill>
              </a:rPr>
              <a:t>배경·관계 조건의 중요 인식은 2009년보다 높아졌다.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A490400-7937-4ACE-83FE-93D3FC9B32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75310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7D9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0DEAD82-CAE4-415F-BAF5-9D3ACA3DBA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5676900"/>
            <a:ext cx="91059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222222"/>
                </a:solidFill>
              </a:defRPr>
            </a:pPr>
            <a:r>
              <a:rPr sz="1350" b="0">
                <a:solidFill>
                  <a:srgbClr val="222222"/>
                </a:solidFill>
              </a:rPr>
              <a:t>경제 자료는 인식 변화의 원인이 아니라 배경 자료로 사용한다.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D4899D2-1930-4028-8A33-30CD336862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96050"/>
            <a:ext cx="11277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F6F6F"/>
                </a:solidFill>
              </a:defRPr>
            </a:pPr>
            <a:r>
              <a:rPr sz="900" b="0">
                <a:solidFill>
                  <a:srgbClr val="6F6F6F"/>
                </a:solidFill>
              </a:rPr>
              <a:t>자료: 한국종합사회조사(KGSS) 2003-2025 누적자료 및 통계청 가계금융복지조사. 개인 식별 정보 없음.</a:t>
            </a:r>
          </a:p>
        </p:txBody>
      </p:sp>
    </p:spTree>
    <p:extLst>
      <p:ext uri="{BB962C8B-B14F-4D97-AF65-F5344CB8AC3E}">
        <p14:creationId xmlns:p14="http://schemas.microsoft.com/office/powerpoint/2010/main" val="95700035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AF9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344A0663-B360-4285-86C3-1F0C6AE326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23850"/>
            <a:ext cx="247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2F7D95"/>
                </a:solidFill>
              </a:defRPr>
            </a:pPr>
            <a:r>
              <a:rPr sz="1200" b="1">
                <a:solidFill>
                  <a:srgbClr val="2F7D95"/>
                </a:solidFill>
              </a:rPr>
              <a:t>03 | 데이터와 방법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68C6454-52DB-41B6-AF16-B044EF7D75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85800"/>
            <a:ext cx="10668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222222"/>
                </a:solidFill>
              </a:defRPr>
            </a:pPr>
            <a:r>
              <a:rPr sz="2700" b="1">
                <a:solidFill>
                  <a:srgbClr val="222222"/>
                </a:solidFill>
              </a:rPr>
              <a:t>성공 인식은 KGSS로, 경제적 배경은 가계금융복지조사로 확인했다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0DAB980-0AF5-401A-8F45-307A056CE4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238250"/>
            <a:ext cx="10668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2F7D95"/>
                </a:solidFill>
              </a:defRPr>
            </a:pPr>
            <a:r>
              <a:rPr sz="1425" b="0">
                <a:solidFill>
                  <a:srgbClr val="2F7D95"/>
                </a:solidFill>
              </a:rPr>
              <a:t>그래프 나열이 아니라 데이터 선택과 검정 기준을 먼저 제시한다.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1935D07-A2AF-4ABF-80FB-F9869790B4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952625"/>
            <a:ext cx="2286000" cy="438150"/>
          </a:xfrm>
          <a:prstGeom xmlns:a="http://schemas.openxmlformats.org/drawingml/2006/main" prst="roundRect">
            <a:avLst>
              <a:gd name="adj" fmla="val 4348"/>
            </a:avLst>
          </a:prstGeom>
          <a:solidFill xmlns:a="http://schemas.openxmlformats.org/drawingml/2006/main">
            <a:srgbClr val="2F7D9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2203B74-36E9-4878-8626-7A402613A7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047875"/>
            <a:ext cx="2057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</a:defRPr>
            </a:pPr>
            <a:r>
              <a:rPr sz="1275" b="1">
                <a:solidFill>
                  <a:srgbClr val="FFFFFF"/>
                </a:solidFill>
              </a:rPr>
              <a:t>데이터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45A6548-E46A-4A8C-BD35-83A5F050BF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1952625"/>
            <a:ext cx="2952750" cy="438150"/>
          </a:xfrm>
          <a:prstGeom xmlns:a="http://schemas.openxmlformats.org/drawingml/2006/main" prst="roundRect">
            <a:avLst>
              <a:gd name="adj" fmla="val 4348"/>
            </a:avLst>
          </a:prstGeom>
          <a:solidFill xmlns:a="http://schemas.openxmlformats.org/drawingml/2006/main">
            <a:srgbClr val="2F7D9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51C3E45-AACC-4309-AE1D-F7D3A6A4D9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7050" y="2047875"/>
            <a:ext cx="27241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</a:defRPr>
            </a:pPr>
            <a:r>
              <a:rPr sz="1275" b="1">
                <a:solidFill>
                  <a:srgbClr val="FFFFFF"/>
                </a:solidFill>
              </a:rPr>
              <a:t>역할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C48E147-BD6A-4EF5-9290-33D6E3E940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1952625"/>
            <a:ext cx="3429000" cy="438150"/>
          </a:xfrm>
          <a:prstGeom xmlns:a="http://schemas.openxmlformats.org/drawingml/2006/main" prst="roundRect">
            <a:avLst>
              <a:gd name="adj" fmla="val 4348"/>
            </a:avLst>
          </a:prstGeom>
          <a:solidFill xmlns:a="http://schemas.openxmlformats.org/drawingml/2006/main">
            <a:srgbClr val="2F7D9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D0A912E-3696-4020-B84E-DEB9A8B1D2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2047875"/>
            <a:ext cx="3200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</a:defRPr>
            </a:pPr>
            <a:r>
              <a:rPr sz="1275" b="1">
                <a:solidFill>
                  <a:srgbClr val="FFFFFF"/>
                </a:solidFill>
              </a:rPr>
              <a:t>분석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8078BC6-FE3B-48F3-9C2C-71B9A3131B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1952625"/>
            <a:ext cx="1809750" cy="438150"/>
          </a:xfrm>
          <a:prstGeom xmlns:a="http://schemas.openxmlformats.org/drawingml/2006/main" prst="roundRect">
            <a:avLst>
              <a:gd name="adj" fmla="val 4348"/>
            </a:avLst>
          </a:prstGeom>
          <a:solidFill xmlns:a="http://schemas.openxmlformats.org/drawingml/2006/main">
            <a:srgbClr val="2F7D9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B4494C8-100C-41FA-AABD-D3C5BB6C3D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48800" y="2047875"/>
            <a:ext cx="15811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</a:defRPr>
            </a:pPr>
            <a:r>
              <a:rPr sz="1275" b="1">
                <a:solidFill>
                  <a:srgbClr val="FFFFFF"/>
                </a:solidFill>
              </a:rPr>
              <a:t>주의점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FB6B095-0E13-4E77-8399-02E131414E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390775"/>
            <a:ext cx="2286000" cy="819150"/>
          </a:xfrm>
          <a:prstGeom xmlns:a="http://schemas.openxmlformats.org/drawingml/2006/main" prst="roundRect">
            <a:avLst>
              <a:gd name="adj" fmla="val 2326"/>
            </a:avLst>
          </a:prstGeom>
          <a:solidFill xmlns:a="http://schemas.openxmlformats.org/drawingml/2006/main">
            <a:srgbClr val="F5F5F3"/>
          </a:solidFill>
          <a:ln xmlns:a="http://schemas.openxmlformats.org/drawingml/2006/main" w="9525">
            <a:solidFill>
              <a:srgbClr val="DDDDDD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15D3A28-6074-45CB-82E2-06CCD8D5E1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562225"/>
            <a:ext cx="20193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222222"/>
                </a:solidFill>
              </a:defRPr>
            </a:pPr>
            <a:r>
              <a:rPr sz="1275" b="1">
                <a:solidFill>
                  <a:srgbClr val="222222"/>
                </a:solidFill>
              </a:rPr>
              <a:t>KGSS 2003-2025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E9D2090-744A-408A-9FBF-E23A2D99AE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2390775"/>
            <a:ext cx="2952750" cy="819150"/>
          </a:xfrm>
          <a:prstGeom xmlns:a="http://schemas.openxmlformats.org/drawingml/2006/main" prst="roundRect">
            <a:avLst>
              <a:gd name="adj" fmla="val 2326"/>
            </a:avLst>
          </a:prstGeom>
          <a:solidFill xmlns:a="http://schemas.openxmlformats.org/drawingml/2006/main">
            <a:srgbClr val="F5F5F3"/>
          </a:solidFill>
          <a:ln xmlns:a="http://schemas.openxmlformats.org/drawingml/2006/main" w="9525">
            <a:solidFill>
              <a:srgbClr val="DDDDDD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D2ED99B-058B-4E05-B5BA-3C161661CA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86100" y="2562225"/>
            <a:ext cx="26860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222222"/>
                </a:solidFill>
              </a:defRPr>
            </a:pPr>
            <a:r>
              <a:rPr sz="1200" b="0">
                <a:solidFill>
                  <a:srgbClr val="222222"/>
                </a:solidFill>
              </a:rPr>
              <a:t>성공 요인 인식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CE73249-C826-406F-AE4C-9B96B0C1FC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2390775"/>
            <a:ext cx="3429000" cy="819150"/>
          </a:xfrm>
          <a:prstGeom xmlns:a="http://schemas.openxmlformats.org/drawingml/2006/main" prst="roundRect">
            <a:avLst>
              <a:gd name="adj" fmla="val 2326"/>
            </a:avLst>
          </a:prstGeom>
          <a:solidFill xmlns:a="http://schemas.openxmlformats.org/drawingml/2006/main">
            <a:srgbClr val="F5F5F3"/>
          </a:solidFill>
          <a:ln xmlns:a="http://schemas.openxmlformats.org/drawingml/2006/main" w="9525">
            <a:solidFill>
              <a:srgbClr val="DDDDDD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29BF485-DF15-4F92-AD2A-63AB116DD1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8850" y="2562225"/>
            <a:ext cx="31623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222222"/>
                </a:solidFill>
              </a:defRPr>
            </a:pPr>
            <a:r>
              <a:rPr sz="1200" b="0">
                <a:solidFill>
                  <a:srgbClr val="222222"/>
                </a:solidFill>
              </a:rPr>
              <a:t>가중 비율, Wilson 95% CI,</a:t>
            </a:r>
          </a:p>
          <a:p xmlns:a="http://schemas.openxmlformats.org/drawingml/2006/main">
            <a:pPr algn="l">
              <a:defRPr sz="1200" b="0">
                <a:solidFill>
                  <a:srgbClr val="222222"/>
                </a:solidFill>
              </a:defRPr>
            </a:pPr>
            <a:r>
              <a:rPr sz="1200" b="0">
                <a:solidFill>
                  <a:srgbClr val="222222"/>
                </a:solidFill>
              </a:rPr>
              <a:t>추세 검정, 카이제곱 검정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51DBC94-4F47-4B03-9529-F1B43EB50C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2390775"/>
            <a:ext cx="1809750" cy="819150"/>
          </a:xfrm>
          <a:prstGeom xmlns:a="http://schemas.openxmlformats.org/drawingml/2006/main" prst="roundRect">
            <a:avLst>
              <a:gd name="adj" fmla="val 2326"/>
            </a:avLst>
          </a:prstGeom>
          <a:solidFill xmlns:a="http://schemas.openxmlformats.org/drawingml/2006/main">
            <a:srgbClr val="F5F5F3"/>
          </a:solidFill>
          <a:ln xmlns:a="http://schemas.openxmlformats.org/drawingml/2006/main" w="9525">
            <a:solidFill>
              <a:srgbClr val="DDDDDD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358ACE1-1172-4F3D-B337-669E47989E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7850" y="2562225"/>
            <a:ext cx="15430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C65A3A"/>
                </a:solidFill>
              </a:defRPr>
            </a:pPr>
            <a:r>
              <a:rPr sz="1200" b="0">
                <a:solidFill>
                  <a:srgbClr val="C65A3A"/>
                </a:solidFill>
              </a:rPr>
              <a:t>인식 자료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F06E29F-E5D5-4BFC-B175-FC769A916B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209925"/>
            <a:ext cx="2286000" cy="819150"/>
          </a:xfrm>
          <a:prstGeom xmlns:a="http://schemas.openxmlformats.org/drawingml/2006/main" prst="roundRect">
            <a:avLst>
              <a:gd name="adj" fmla="val 232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DDDD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023560B-4C12-4FAE-99C5-DB157947A7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381375"/>
            <a:ext cx="20193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222222"/>
                </a:solidFill>
              </a:defRPr>
            </a:pPr>
            <a:r>
              <a:rPr sz="1275" b="1">
                <a:solidFill>
                  <a:srgbClr val="222222"/>
                </a:solidFill>
              </a:rPr>
              <a:t>가계금융복지조사</a:t>
            </a:r>
          </a:p>
          <a:p xmlns:a="http://schemas.openxmlformats.org/drawingml/2006/main">
            <a:pPr algn="l">
              <a:defRPr sz="1275" b="1">
                <a:solidFill>
                  <a:srgbClr val="222222"/>
                </a:solidFill>
              </a:defRPr>
            </a:pPr>
            <a:r>
              <a:rPr sz="1275" b="1">
                <a:solidFill>
                  <a:srgbClr val="222222"/>
                </a:solidFill>
              </a:rPr>
              <a:t>부록 통계표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3344943-05BA-47C1-9071-74377C22A6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3209925"/>
            <a:ext cx="2952750" cy="819150"/>
          </a:xfrm>
          <a:prstGeom xmlns:a="http://schemas.openxmlformats.org/drawingml/2006/main" prst="roundRect">
            <a:avLst>
              <a:gd name="adj" fmla="val 232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DDDD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4C0A5BE-1ACC-47CA-9BF6-94E255A66C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86100" y="3381375"/>
            <a:ext cx="26860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222222"/>
                </a:solidFill>
              </a:defRPr>
            </a:pPr>
            <a:r>
              <a:rPr sz="1200" b="0">
                <a:solidFill>
                  <a:srgbClr val="222222"/>
                </a:solidFill>
              </a:rPr>
              <a:t>소득·순자산 격차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9A88C8E-9803-4801-BB88-408A673C84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3209925"/>
            <a:ext cx="3429000" cy="819150"/>
          </a:xfrm>
          <a:prstGeom xmlns:a="http://schemas.openxmlformats.org/drawingml/2006/main" prst="roundRect">
            <a:avLst>
              <a:gd name="adj" fmla="val 232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DDDD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EDEFCF9-0EB5-4D13-BA32-B90D4FA428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8850" y="3381375"/>
            <a:ext cx="31623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222222"/>
                </a:solidFill>
              </a:defRPr>
            </a:pPr>
            <a:r>
              <a:rPr sz="1200" b="0">
                <a:solidFill>
                  <a:srgbClr val="222222"/>
                </a:solidFill>
              </a:rPr>
              <a:t>상·하위 20% 평균 격차,</a:t>
            </a:r>
          </a:p>
          <a:p xmlns:a="http://schemas.openxmlformats.org/drawingml/2006/main">
            <a:pPr algn="l">
              <a:defRPr sz="1200" b="0">
                <a:solidFill>
                  <a:srgbClr val="222222"/>
                </a:solidFill>
              </a:defRPr>
            </a:pPr>
            <a:r>
              <a:rPr sz="1200" b="0">
                <a:solidFill>
                  <a:srgbClr val="222222"/>
                </a:solidFill>
              </a:rPr>
              <a:t>연령대별 소득·자산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1E32E70A-7F56-45B0-A378-2AFB0FDAE4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3209925"/>
            <a:ext cx="1809750" cy="819150"/>
          </a:xfrm>
          <a:prstGeom xmlns:a="http://schemas.openxmlformats.org/drawingml/2006/main" prst="roundRect">
            <a:avLst>
              <a:gd name="adj" fmla="val 232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DDDD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6889ACEC-18BE-4B05-B732-71278F5A9B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7850" y="3381375"/>
            <a:ext cx="15430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C65A3A"/>
                </a:solidFill>
              </a:defRPr>
            </a:pPr>
            <a:r>
              <a:rPr sz="1200" b="0">
                <a:solidFill>
                  <a:srgbClr val="C65A3A"/>
                </a:solidFill>
              </a:rPr>
              <a:t>보조 배경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1BEC3F7D-3A49-437C-AFEA-5B0A1AE3CC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029075"/>
            <a:ext cx="2286000" cy="819150"/>
          </a:xfrm>
          <a:prstGeom xmlns:a="http://schemas.openxmlformats.org/drawingml/2006/main" prst="roundRect">
            <a:avLst>
              <a:gd name="adj" fmla="val 2326"/>
            </a:avLst>
          </a:prstGeom>
          <a:solidFill xmlns:a="http://schemas.openxmlformats.org/drawingml/2006/main">
            <a:srgbClr val="F5F5F3"/>
          </a:solidFill>
          <a:ln xmlns:a="http://schemas.openxmlformats.org/drawingml/2006/main" w="9525">
            <a:solidFill>
              <a:srgbClr val="DDDDDD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7DED801F-A9F8-4916-80A4-A6717E0596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200525"/>
            <a:ext cx="20193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222222"/>
                </a:solidFill>
              </a:defRPr>
            </a:pPr>
            <a:r>
              <a:rPr sz="1275" b="1">
                <a:solidFill>
                  <a:srgbClr val="222222"/>
                </a:solidFill>
              </a:rPr>
              <a:t>MDIS 2025</a:t>
            </a:r>
          </a:p>
          <a:p xmlns:a="http://schemas.openxmlformats.org/drawingml/2006/main">
            <a:pPr algn="l">
              <a:defRPr sz="1275" b="1">
                <a:solidFill>
                  <a:srgbClr val="222222"/>
                </a:solidFill>
              </a:defRPr>
            </a:pPr>
            <a:r>
              <a:rPr sz="1275" b="1">
                <a:solidFill>
                  <a:srgbClr val="222222"/>
                </a:solidFill>
              </a:rPr>
              <a:t>가구마스터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D170867A-5763-447F-A8F7-0948CCFFDD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4029075"/>
            <a:ext cx="2952750" cy="819150"/>
          </a:xfrm>
          <a:prstGeom xmlns:a="http://schemas.openxmlformats.org/drawingml/2006/main" prst="roundRect">
            <a:avLst>
              <a:gd name="adj" fmla="val 2326"/>
            </a:avLst>
          </a:prstGeom>
          <a:solidFill xmlns:a="http://schemas.openxmlformats.org/drawingml/2006/main">
            <a:srgbClr val="F5F5F3"/>
          </a:solidFill>
          <a:ln xmlns:a="http://schemas.openxmlformats.org/drawingml/2006/main" w="9525">
            <a:solidFill>
              <a:srgbClr val="DDDDDD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E041BA4B-B4FE-4DE6-A886-ECD96E7EFE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86100" y="4200525"/>
            <a:ext cx="26860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222222"/>
                </a:solidFill>
              </a:defRPr>
            </a:pPr>
            <a:r>
              <a:rPr sz="1200" b="0">
                <a:solidFill>
                  <a:srgbClr val="222222"/>
                </a:solidFill>
              </a:rPr>
              <a:t>같은 가구의</a:t>
            </a:r>
          </a:p>
          <a:p xmlns:a="http://schemas.openxmlformats.org/drawingml/2006/main">
            <a:pPr algn="l">
              <a:defRPr sz="1200" b="0">
                <a:solidFill>
                  <a:srgbClr val="222222"/>
                </a:solidFill>
              </a:defRPr>
            </a:pPr>
            <a:r>
              <a:rPr sz="1200" b="0">
                <a:solidFill>
                  <a:srgbClr val="222222"/>
                </a:solidFill>
              </a:rPr>
              <a:t>소득·순자산 관계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F568BF8B-1C01-45A7-A3E5-C5820D0E9E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4029075"/>
            <a:ext cx="3429000" cy="819150"/>
          </a:xfrm>
          <a:prstGeom xmlns:a="http://schemas.openxmlformats.org/drawingml/2006/main" prst="roundRect">
            <a:avLst>
              <a:gd name="adj" fmla="val 2326"/>
            </a:avLst>
          </a:prstGeom>
          <a:solidFill xmlns:a="http://schemas.openxmlformats.org/drawingml/2006/main">
            <a:srgbClr val="F5F5F3"/>
          </a:solidFill>
          <a:ln xmlns:a="http://schemas.openxmlformats.org/drawingml/2006/main" w="9525">
            <a:solidFill>
              <a:srgbClr val="DDDDDD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B30566FE-7A87-4770-96C5-DB940EAD1D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8850" y="4200525"/>
            <a:ext cx="31623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222222"/>
                </a:solidFill>
              </a:defRPr>
            </a:pPr>
            <a:r>
              <a:rPr sz="1200" b="0">
                <a:solidFill>
                  <a:srgbClr val="222222"/>
                </a:solidFill>
              </a:rPr>
              <a:t>소득5분위×순자산5분위,</a:t>
            </a:r>
          </a:p>
          <a:p xmlns:a="http://schemas.openxmlformats.org/drawingml/2006/main">
            <a:pPr algn="l">
              <a:defRPr sz="1200" b="0">
                <a:solidFill>
                  <a:srgbClr val="222222"/>
                </a:solidFill>
              </a:defRPr>
            </a:pPr>
            <a:r>
              <a:rPr sz="1200" b="0">
                <a:solidFill>
                  <a:srgbClr val="222222"/>
                </a:solidFill>
              </a:rPr>
              <a:t>Cramer's V, 가중 분위상관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6ED1A632-1498-4485-BBAA-E712B6452A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4029075"/>
            <a:ext cx="1809750" cy="819150"/>
          </a:xfrm>
          <a:prstGeom xmlns:a="http://schemas.openxmlformats.org/drawingml/2006/main" prst="roundRect">
            <a:avLst>
              <a:gd name="adj" fmla="val 2326"/>
            </a:avLst>
          </a:prstGeom>
          <a:solidFill xmlns:a="http://schemas.openxmlformats.org/drawingml/2006/main">
            <a:srgbClr val="F5F5F3"/>
          </a:solidFill>
          <a:ln xmlns:a="http://schemas.openxmlformats.org/drawingml/2006/main" w="9525">
            <a:solidFill>
              <a:srgbClr val="DDDDDD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EB1C8042-9D17-4381-9B9D-E86103E93B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7850" y="4200525"/>
            <a:ext cx="15430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C65A3A"/>
                </a:solidFill>
              </a:defRPr>
            </a:pPr>
            <a:r>
              <a:rPr sz="1200" b="0">
                <a:solidFill>
                  <a:srgbClr val="C65A3A"/>
                </a:solidFill>
              </a:rPr>
              <a:t>인과 아님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2BCE3FC9-53E3-4C27-BCBA-6DF105CD13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829300"/>
            <a:ext cx="10668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F6F6F"/>
                </a:solidFill>
              </a:defRPr>
            </a:pPr>
            <a:r>
              <a:rPr sz="1200" b="0">
                <a:solidFill>
                  <a:srgbClr val="6F6F6F"/>
                </a:solidFill>
              </a:rPr>
              <a:t>성공 요인 중요 응답: ‘매우 중요·꽤 중요·약간 중요’를 합산하고 FINALWT 가중치를 적용.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493B4A0A-0131-4E33-B982-C84E502B21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96050"/>
            <a:ext cx="11277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F6F6F"/>
                </a:solidFill>
              </a:defRPr>
            </a:pPr>
            <a:r>
              <a:rPr sz="900" b="0">
                <a:solidFill>
                  <a:srgbClr val="6F6F6F"/>
                </a:solidFill>
              </a:rPr>
              <a:t>자료: KOSSDA KGSS 누적자료, 통계청 가계금융복지조사 부록 통계표, MDIS 가구마스터.</a:t>
            </a:r>
          </a:p>
        </p:txBody>
      </p:sp>
    </p:spTree>
    <p:extLst>
      <p:ext uri="{BB962C8B-B14F-4D97-AF65-F5344CB8AC3E}">
        <p14:creationId xmlns:p14="http://schemas.microsoft.com/office/powerpoint/2010/main" val="1619970990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AF9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9BF508BF-6492-4830-A1DC-66A2B541EB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23850"/>
            <a:ext cx="247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2F7D95"/>
                </a:solidFill>
              </a:defRPr>
            </a:pPr>
            <a:r>
              <a:rPr sz="1200" b="1">
                <a:solidFill>
                  <a:srgbClr val="2F7D95"/>
                </a:solidFill>
              </a:rPr>
              <a:t>04 | KGSS 결과 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A15E2AC-6392-41FE-B7DF-A8A4680F7E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85800"/>
            <a:ext cx="10668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222222"/>
                </a:solidFill>
              </a:defRPr>
            </a:pPr>
            <a:r>
              <a:rPr sz="2700" b="1">
                <a:solidFill>
                  <a:srgbClr val="222222"/>
                </a:solidFill>
              </a:rPr>
              <a:t>노력은 사라지지 않았다: 2025년에도 98.6%가 중요하다고 답했다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96880B9-9145-4ABC-872D-38B3EE7DDC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238250"/>
            <a:ext cx="10668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2F7D95"/>
                </a:solidFill>
              </a:defRPr>
            </a:pPr>
            <a:r>
              <a:rPr sz="1425" b="0">
                <a:solidFill>
                  <a:srgbClr val="2F7D95"/>
                </a:solidFill>
              </a:rPr>
              <a:t>노력과 관계 자본은 모두 거의 포화 수준으로 중요하게 인식된다.</a:t>
            </a:r>
          </a:p>
        </p:txBody>
      </p:sp>
      <p:pic>
        <p:nvPicPr>
          <p:cNvPr id="1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e78f972ec814281"/>
          <a:stretch xmlns:a="http://schemas.openxmlformats.org/drawingml/2006/main"/>
        </p:blipFill>
        <p:spPr>
          <a:xfrm xmlns:a="http://schemas.openxmlformats.org/drawingml/2006/main">
            <a:off x="666750" y="1925528"/>
            <a:ext cx="7620000" cy="3530819"/>
          </a:xfrm>
          <a:prstGeom xmlns:a="http://schemas.openxmlformats.org/drawingml/2006/main" prst="roundRect">
            <a:avLst>
              <a:gd name="adj" fmla="val 2963"/>
            </a:avLst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94DF49A-33B4-4B19-B058-B70664F96D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10625" y="2381250"/>
            <a:ext cx="2381250" cy="1809750"/>
          </a:xfrm>
          <a:prstGeom xmlns:a="http://schemas.openxmlformats.org/drawingml/2006/main" prst="roundRect">
            <a:avLst>
              <a:gd name="adj" fmla="val 8421"/>
            </a:avLst>
          </a:prstGeom>
          <a:solidFill xmlns:a="http://schemas.openxmlformats.org/drawingml/2006/main">
            <a:srgbClr val="E7F2E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F41843F-5679-4EBD-8A8A-90C4516ED3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2667000"/>
            <a:ext cx="18669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2F7D95"/>
                </a:solidFill>
              </a:defRPr>
            </a:pPr>
            <a:r>
              <a:rPr sz="1800" b="1">
                <a:solidFill>
                  <a:srgbClr val="2F7D95"/>
                </a:solidFill>
              </a:rPr>
              <a:t>핵심 해석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7CFB5D4-E1DC-43DE-B0FF-56A134EDCF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3143250"/>
            <a:ext cx="18669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222222"/>
                </a:solidFill>
              </a:defRPr>
            </a:pPr>
            <a:r>
              <a:rPr sz="1350" b="0">
                <a:solidFill>
                  <a:srgbClr val="222222"/>
                </a:solidFill>
              </a:rPr>
              <a:t>노력이 낮아진 것이 아니다.</a:t>
            </a:r>
          </a:p>
          <a:p xmlns:a="http://schemas.openxmlformats.org/drawingml/2006/main">
            <a:pPr algn="l">
              <a:defRPr sz="1350" b="0">
                <a:solidFill>
                  <a:srgbClr val="222222"/>
                </a:solidFill>
              </a:defRPr>
            </a:pPr>
            <a:r>
              <a:rPr sz="1350" b="0">
                <a:solidFill>
                  <a:srgbClr val="222222"/>
                </a:solidFill>
              </a:rPr>
              <a:t>다만 관계 자본과 가족 배경도</a:t>
            </a:r>
          </a:p>
          <a:p xmlns:a="http://schemas.openxmlformats.org/drawingml/2006/main">
            <a:pPr algn="l">
              <a:defRPr sz="1350" b="0">
                <a:solidFill>
                  <a:srgbClr val="222222"/>
                </a:solidFill>
              </a:defRPr>
            </a:pPr>
            <a:r>
              <a:rPr sz="1350" b="0">
                <a:solidFill>
                  <a:srgbClr val="222222"/>
                </a:solidFill>
              </a:rPr>
              <a:t>함께 높게 인식된다.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61A2A50-CF5F-441D-B5B3-976D8DDCDA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905500"/>
            <a:ext cx="809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F6F6F"/>
                </a:solidFill>
              </a:defRPr>
            </a:pPr>
            <a:r>
              <a:rPr sz="1050" b="0">
                <a:solidFill>
                  <a:srgbClr val="6F6F6F"/>
                </a:solidFill>
              </a:rPr>
              <a:t>주: ‘매우 중요·꽤 중요·약간 중요’를 중요 응답으로 재분류.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A776AAE-19EC-4FCE-965F-370E7BC521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96050"/>
            <a:ext cx="11277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F6F6F"/>
                </a:solidFill>
              </a:defRPr>
            </a:pPr>
            <a:r>
              <a:rPr sz="900" b="0">
                <a:solidFill>
                  <a:srgbClr val="6F6F6F"/>
                </a:solidFill>
              </a:rPr>
              <a:t>자료: 한국종합사회조사(KGSS) 2003-2025 누적자료, 2025년 응답. FINALWT 가중치 적용.</a:t>
            </a:r>
          </a:p>
        </p:txBody>
      </p:sp>
    </p:spTree>
    <p:extLst>
      <p:ext uri="{BB962C8B-B14F-4D97-AF65-F5344CB8AC3E}">
        <p14:creationId xmlns:p14="http://schemas.microsoft.com/office/powerpoint/2010/main" val="378796775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AF9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3A781980-3D0D-4C9E-9744-AB295F89DA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23850"/>
            <a:ext cx="247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2F7D95"/>
                </a:solidFill>
              </a:defRPr>
            </a:pPr>
            <a:r>
              <a:rPr sz="1200" b="1">
                <a:solidFill>
                  <a:srgbClr val="2F7D95"/>
                </a:solidFill>
              </a:rPr>
              <a:t>05 | KGSS 결과 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C77F485-28FB-4037-B2B6-8E938F9A87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85800"/>
            <a:ext cx="10668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222222"/>
                </a:solidFill>
              </a:defRPr>
            </a:pPr>
            <a:r>
              <a:rPr sz="2700" b="1">
                <a:solidFill>
                  <a:srgbClr val="222222"/>
                </a:solidFill>
              </a:rPr>
              <a:t>변한 것은 노력의 중요성이 아니라, 배경·관계 조건의 부상이다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D77C0C6-76A2-47C4-9A77-5A54BCB534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238250"/>
            <a:ext cx="10668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2F7D95"/>
                </a:solidFill>
              </a:defRPr>
            </a:pPr>
            <a:r>
              <a:rPr sz="1425" b="0">
                <a:solidFill>
                  <a:srgbClr val="2F7D95"/>
                </a:solidFill>
              </a:rPr>
              <a:t>노력은 높은 수준에서 유지되고, 배경·관계 조건의 중요 인식은 상승했다.</a:t>
            </a:r>
          </a:p>
        </p:txBody>
      </p:sp>
      <p:pic>
        <p:nvPicPr>
          <p:cNvPr id="1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997b450b00e4bc4"/>
          <a:stretch xmlns:a="http://schemas.openxmlformats.org/drawingml/2006/main"/>
        </p:blipFill>
        <p:spPr>
          <a:xfrm xmlns:a="http://schemas.openxmlformats.org/drawingml/2006/main">
            <a:off x="552450" y="1896280"/>
            <a:ext cx="8382000" cy="3541690"/>
          </a:xfrm>
          <a:prstGeom xmlns:a="http://schemas.openxmlformats.org/drawingml/2006/main" prst="roundRect">
            <a:avLst>
              <a:gd name="adj" fmla="val 2791"/>
            </a:avLst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6463FB8-ACC5-4120-9246-DF509189F4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3238500"/>
            <a:ext cx="2190750" cy="12192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F5EAE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6BFD681-2030-4A89-9E35-FD74349FE7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5950" y="3467100"/>
            <a:ext cx="1714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C65A3A"/>
                </a:solidFill>
              </a:defRPr>
            </a:pPr>
            <a:r>
              <a:rPr sz="1500" b="1">
                <a:solidFill>
                  <a:srgbClr val="C65A3A"/>
                </a:solidFill>
              </a:rPr>
              <a:t>검정 결과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490B695-73B2-4D72-95A9-74FB73CA82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5950" y="3829050"/>
            <a:ext cx="1714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222222"/>
                </a:solidFill>
              </a:defRPr>
            </a:pPr>
            <a:r>
              <a:rPr sz="900" b="0">
                <a:solidFill>
                  <a:srgbClr val="222222"/>
                </a:solidFill>
              </a:rPr>
              <a:t>부유한 집안·부모 교육은 증가 추세.</a:t>
            </a:r>
          </a:p>
          <a:p xmlns:a="http://schemas.openxmlformats.org/drawingml/2006/main">
            <a:pPr algn="l">
              <a:defRPr sz="900" b="0">
                <a:solidFill>
                  <a:srgbClr val="222222"/>
                </a:solidFill>
              </a:defRPr>
            </a:pPr>
            <a:r>
              <a:rPr sz="900" b="0">
                <a:solidFill>
                  <a:srgbClr val="222222"/>
                </a:solidFill>
              </a:rPr>
              <a:t>관계 자본은 약한 증가 추세.</a:t>
            </a:r>
          </a:p>
          <a:p xmlns:a="http://schemas.openxmlformats.org/drawingml/2006/main">
            <a:pPr algn="l">
              <a:defRPr sz="900" b="0">
                <a:solidFill>
                  <a:srgbClr val="222222"/>
                </a:solidFill>
              </a:defRPr>
            </a:pPr>
            <a:r>
              <a:rPr sz="900" b="0">
                <a:solidFill>
                  <a:srgbClr val="222222"/>
                </a:solidFill>
              </a:rPr>
              <a:t>열심히 일은 뚜렷한 선형 추세 없음.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FF612DA-53F3-41E9-9457-3D156B8122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62650"/>
            <a:ext cx="8382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F6F6F"/>
                </a:solidFill>
              </a:defRPr>
            </a:pPr>
            <a:r>
              <a:rPr sz="975" b="0">
                <a:solidFill>
                  <a:srgbClr val="6F6F6F"/>
                </a:solidFill>
              </a:rPr>
              <a:t>주: 성공 요인 문항이 유효한 2009, 2014, 2021, 2023, 2025년만 분석.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64B2571-DCB7-4175-9DD9-69A3A7168C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96050"/>
            <a:ext cx="11277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F6F6F"/>
                </a:solidFill>
              </a:defRPr>
            </a:pPr>
            <a:r>
              <a:rPr sz="900" b="0">
                <a:solidFill>
                  <a:srgbClr val="6F6F6F"/>
                </a:solidFill>
              </a:rPr>
              <a:t>자료: 한국종합사회조사(KGSS) 2003-2025 누적자료. FINALWT 가중치 적용.</a:t>
            </a:r>
          </a:p>
        </p:txBody>
      </p:sp>
    </p:spTree>
    <p:extLst>
      <p:ext uri="{BB962C8B-B14F-4D97-AF65-F5344CB8AC3E}">
        <p14:creationId xmlns:p14="http://schemas.microsoft.com/office/powerpoint/2010/main" val="1084852076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AF9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CC763E9A-D860-482C-99FE-391B3E018C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23850"/>
            <a:ext cx="247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2F7D95"/>
                </a:solidFill>
              </a:defRPr>
            </a:pPr>
            <a:r>
              <a:rPr sz="1200" b="1">
                <a:solidFill>
                  <a:srgbClr val="2F7D95"/>
                </a:solidFill>
              </a:rPr>
              <a:t>06 | KGSS 결과 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7F54C97-FCB5-49BB-8E1E-FDB48B1012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85800"/>
            <a:ext cx="10668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222222"/>
                </a:solidFill>
              </a:defRPr>
            </a:pPr>
            <a:r>
              <a:rPr sz="2700" b="1">
                <a:solidFill>
                  <a:srgbClr val="222222"/>
                </a:solidFill>
              </a:rPr>
              <a:t>세대 차이는 있지만, ‘노력의 포기’로 단순화하기 어렵다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6EBA6BD-C3D2-449F-B413-1A47AC8595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238250"/>
            <a:ext cx="10668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2F7D95"/>
                </a:solidFill>
              </a:defRPr>
            </a:pPr>
            <a:r>
              <a:rPr sz="1425" b="0">
                <a:solidFill>
                  <a:srgbClr val="2F7D95"/>
                </a:solidFill>
              </a:rPr>
              <a:t>2025년 연령대별 차이는 주로 ‘부유한 집안’ 항목에서 확인된다.</a:t>
            </a:r>
          </a:p>
        </p:txBody>
      </p:sp>
      <p:pic>
        <p:nvPicPr>
          <p:cNvPr id="1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be4cdb32c674129"/>
          <a:stretch xmlns:a="http://schemas.openxmlformats.org/drawingml/2006/main"/>
        </p:blipFill>
        <p:spPr>
          <a:xfrm xmlns:a="http://schemas.openxmlformats.org/drawingml/2006/main">
            <a:off x="495300" y="1715883"/>
            <a:ext cx="8572500" cy="3940585"/>
          </a:xfrm>
          <a:prstGeom xmlns:a="http://schemas.openxmlformats.org/drawingml/2006/main" prst="roundRect">
            <a:avLst>
              <a:gd name="adj" fmla="val 2791"/>
            </a:avLst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499F090-BBAF-4AA8-AD6F-99709E0352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2952750"/>
            <a:ext cx="2190750" cy="1428750"/>
          </a:xfrm>
          <a:prstGeom xmlns:a="http://schemas.openxmlformats.org/drawingml/2006/main" prst="roundRect">
            <a:avLst>
              <a:gd name="adj" fmla="val 10667"/>
            </a:avLst>
          </a:prstGeom>
          <a:solidFill xmlns:a="http://schemas.openxmlformats.org/drawingml/2006/main">
            <a:srgbClr val="E7F2E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2FB9FE2-C8AB-4886-96B5-ABE3829342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0" y="3200400"/>
            <a:ext cx="1619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2F7D95"/>
                </a:solidFill>
              </a:defRPr>
            </a:pPr>
            <a:r>
              <a:rPr sz="1800" b="1">
                <a:solidFill>
                  <a:srgbClr val="2F7D95"/>
                </a:solidFill>
              </a:rPr>
              <a:t>해석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E95B67E-AD97-432F-A205-226173B764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0" y="3638550"/>
            <a:ext cx="1619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222222"/>
                </a:solidFill>
              </a:defRPr>
            </a:pPr>
            <a:r>
              <a:rPr sz="1050" b="0">
                <a:solidFill>
                  <a:srgbClr val="222222"/>
                </a:solidFill>
              </a:rPr>
              <a:t>카이제곱 검정 결과,</a:t>
            </a:r>
          </a:p>
          <a:p xmlns:a="http://schemas.openxmlformats.org/drawingml/2006/main">
            <a:pPr algn="l">
              <a:defRPr sz="1050" b="0">
                <a:solidFill>
                  <a:srgbClr val="222222"/>
                </a:solidFill>
              </a:defRPr>
            </a:pPr>
            <a:r>
              <a:rPr sz="1050" b="0">
                <a:solidFill>
                  <a:srgbClr val="222222"/>
                </a:solidFill>
              </a:rPr>
              <a:t>‘부유한 집안’에서만</a:t>
            </a:r>
          </a:p>
          <a:p xmlns:a="http://schemas.openxmlformats.org/drawingml/2006/main">
            <a:pPr algn="l">
              <a:defRPr sz="1050" b="0">
                <a:solidFill>
                  <a:srgbClr val="222222"/>
                </a:solidFill>
              </a:defRPr>
            </a:pPr>
            <a:r>
              <a:rPr sz="1050" b="0">
                <a:solidFill>
                  <a:srgbClr val="222222"/>
                </a:solidFill>
              </a:rPr>
              <a:t>연령대별 차이 확인</a:t>
            </a:r>
          </a:p>
          <a:p xmlns:a="http://schemas.openxmlformats.org/drawingml/2006/main">
            <a:pPr algn="l">
              <a:defRPr sz="1050" b="0">
                <a:solidFill>
                  <a:srgbClr val="222222"/>
                </a:solidFill>
              </a:defRPr>
            </a:pPr>
            <a:r>
              <a:rPr sz="1050" b="0">
                <a:solidFill>
                  <a:srgbClr val="222222"/>
                </a:solidFill>
              </a:rPr>
              <a:t>(p&lt;0.001).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845B716-7CA7-4E77-B2F3-3CB5A3E8E8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05500"/>
            <a:ext cx="857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2F7D95"/>
                </a:solidFill>
              </a:defRPr>
            </a:pPr>
            <a:r>
              <a:rPr sz="1125" b="1">
                <a:solidFill>
                  <a:srgbClr val="2F7D95"/>
                </a:solidFill>
              </a:rPr>
              <a:t>열심히 일·부모 교육·관계 자본은 연령대별 차이가 뚜렷하지 않다.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1E6E792-A902-4A0C-AEC2-0CA59B7591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96050"/>
            <a:ext cx="11277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F6F6F"/>
                </a:solidFill>
              </a:defRPr>
            </a:pPr>
            <a:r>
              <a:rPr sz="900" b="0">
                <a:solidFill>
                  <a:srgbClr val="6F6F6F"/>
                </a:solidFill>
              </a:rPr>
              <a:t>자료: 한국종합사회조사(KGSS) 2003-2025 누적자료, 2025년 응답. FINALWT 가중치 적용.</a:t>
            </a:r>
          </a:p>
        </p:txBody>
      </p:sp>
    </p:spTree>
    <p:extLst>
      <p:ext uri="{BB962C8B-B14F-4D97-AF65-F5344CB8AC3E}">
        <p14:creationId xmlns:p14="http://schemas.microsoft.com/office/powerpoint/2010/main" val="1471982850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AF9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5FA486E7-10BB-41D2-BA26-4F20F9F3B1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23850"/>
            <a:ext cx="247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2F7D95"/>
                </a:solidFill>
              </a:defRPr>
            </a:pPr>
            <a:r>
              <a:rPr sz="1200" b="1">
                <a:solidFill>
                  <a:srgbClr val="2F7D95"/>
                </a:solidFill>
              </a:rPr>
              <a:t>07 | 경제적 배경 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33EF598-CE83-44EA-83A4-ACEE55AFF1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85800"/>
            <a:ext cx="10668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222222"/>
                </a:solidFill>
              </a:defRPr>
            </a:pPr>
            <a:r>
              <a:rPr sz="2700" b="1">
                <a:solidFill>
                  <a:srgbClr val="222222"/>
                </a:solidFill>
              </a:rPr>
              <a:t>성공을 소득만으로 설명하기 어려운 이유: 자산 격차는 훨씬 크다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F049548-8EF2-45EB-9578-23703C60CB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238250"/>
            <a:ext cx="10668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2F7D95"/>
                </a:solidFill>
              </a:defRPr>
            </a:pPr>
            <a:r>
              <a:rPr sz="1425" b="0">
                <a:solidFill>
                  <a:srgbClr val="2F7D95"/>
                </a:solidFill>
              </a:rPr>
              <a:t>전체 가구 기준 상·하위 격차는 소득보다 순자산에서 크게 나타난다.</a:t>
            </a:r>
          </a:p>
        </p:txBody>
      </p:sp>
      <p:pic>
        <p:nvPicPr>
          <p:cNvPr id="1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d695b11a7974e27"/>
          <a:stretch xmlns:a="http://schemas.openxmlformats.org/drawingml/2006/main"/>
        </p:blipFill>
        <p:spPr>
          <a:xfrm xmlns:a="http://schemas.openxmlformats.org/drawingml/2006/main">
            <a:off x="1345865" y="1666875"/>
            <a:ext cx="5595020" cy="4191000"/>
          </a:xfrm>
          <a:prstGeom xmlns:a="http://schemas.openxmlformats.org/drawingml/2006/main" prst="roundRect">
            <a:avLst>
              <a:gd name="adj" fmla="val 2727"/>
            </a:avLst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344C105-EDEB-4A13-BB48-41C4B817F5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2000250"/>
            <a:ext cx="3143250" cy="895350"/>
          </a:xfrm>
          <a:prstGeom xmlns:a="http://schemas.openxmlformats.org/drawingml/2006/main" prst="roundRect">
            <a:avLst>
              <a:gd name="adj" fmla="val 17021"/>
            </a:avLst>
          </a:prstGeom>
          <a:solidFill xmlns:a="http://schemas.openxmlformats.org/drawingml/2006/main">
            <a:srgbClr val="E7F2E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5FABDFD-3E6A-491A-971A-DF91C35F7A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2209800"/>
            <a:ext cx="247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2F7D95"/>
                </a:solidFill>
              </a:defRPr>
            </a:pPr>
            <a:r>
              <a:rPr sz="1800" b="1">
                <a:solidFill>
                  <a:srgbClr val="2F7D95"/>
                </a:solidFill>
              </a:rPr>
              <a:t>순자산 격차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CE5D453-DA58-4602-83DB-4AB1AE809F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2571750"/>
            <a:ext cx="2476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222222"/>
                </a:solidFill>
              </a:defRPr>
            </a:pPr>
            <a:r>
              <a:rPr sz="1500" b="1">
                <a:solidFill>
                  <a:srgbClr val="222222"/>
                </a:solidFill>
              </a:rPr>
              <a:t>가구소득 격차의 약 12.0배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B03EA85-959B-4F58-A88C-FAB7FD5A93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3190875"/>
            <a:ext cx="3143250" cy="2047875"/>
          </a:xfrm>
          <a:prstGeom xmlns:a="http://schemas.openxmlformats.org/drawingml/2006/main" prst="roundRect">
            <a:avLst>
              <a:gd name="adj" fmla="val 7442"/>
            </a:avLst>
          </a:prstGeom>
          <a:solidFill xmlns:a="http://schemas.openxmlformats.org/drawingml/2006/main">
            <a:srgbClr val="F5EAE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38563FC-BD25-46EB-9C6D-D31AA1CE70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3448050"/>
            <a:ext cx="2476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C65A3A"/>
                </a:solidFill>
              </a:defRPr>
            </a:pPr>
            <a:r>
              <a:rPr sz="1875" b="1">
                <a:solidFill>
                  <a:srgbClr val="C65A3A"/>
                </a:solidFill>
              </a:rPr>
              <a:t>해석 주의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18D7FD8-0D13-426B-9D8C-EA9FCEC84F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3981450"/>
            <a:ext cx="24765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222222"/>
                </a:solidFill>
              </a:defRPr>
            </a:pPr>
            <a:r>
              <a:rPr sz="1425" b="0">
                <a:solidFill>
                  <a:srgbClr val="222222"/>
                </a:solidFill>
              </a:rPr>
              <a:t>순자산은 현재 소득이 아니라</a:t>
            </a:r>
          </a:p>
          <a:p xmlns:a="http://schemas.openxmlformats.org/drawingml/2006/main">
            <a:pPr algn="l">
              <a:defRPr sz="1425" b="0">
                <a:solidFill>
                  <a:srgbClr val="222222"/>
                </a:solidFill>
              </a:defRPr>
            </a:pPr>
            <a:r>
              <a:rPr sz="1425" b="0">
                <a:solidFill>
                  <a:srgbClr val="222222"/>
                </a:solidFill>
              </a:rPr>
              <a:t>주택 보유, 축적 기간,</a:t>
            </a:r>
          </a:p>
          <a:p xmlns:a="http://schemas.openxmlformats.org/drawingml/2006/main">
            <a:pPr algn="l">
              <a:defRPr sz="1425" b="0">
                <a:solidFill>
                  <a:srgbClr val="222222"/>
                </a:solidFill>
              </a:defRPr>
            </a:pPr>
            <a:r>
              <a:rPr sz="1425" b="0">
                <a:solidFill>
                  <a:srgbClr val="222222"/>
                </a:solidFill>
              </a:rPr>
              <a:t>은퇴와 생애주기 효과를</a:t>
            </a:r>
          </a:p>
          <a:p xmlns:a="http://schemas.openxmlformats.org/drawingml/2006/main">
            <a:pPr algn="l">
              <a:defRPr sz="1425" b="0">
                <a:solidFill>
                  <a:srgbClr val="222222"/>
                </a:solidFill>
              </a:defRPr>
            </a:pPr>
            <a:r>
              <a:rPr sz="1425" b="0">
                <a:solidFill>
                  <a:srgbClr val="222222"/>
                </a:solidFill>
              </a:rPr>
              <a:t>함께 반영한다.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5A5F891-FD6D-4DC5-871C-A6F5437F7F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5619750"/>
            <a:ext cx="3524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F6F6F"/>
                </a:solidFill>
              </a:defRPr>
            </a:pPr>
            <a:r>
              <a:rPr sz="1200" b="0">
                <a:solidFill>
                  <a:srgbClr val="6F6F6F"/>
                </a:solidFill>
              </a:rPr>
              <a:t>따라서 순자산 격차를 개인 노력 차이로 해석하지 않는다.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794BB12-BBEA-4E60-B1DF-2695865A9B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96050"/>
            <a:ext cx="11277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F6F6F"/>
                </a:solidFill>
              </a:defRPr>
            </a:pPr>
            <a:r>
              <a:rPr sz="900" b="0">
                <a:solidFill>
                  <a:srgbClr val="6F6F6F"/>
                </a:solidFill>
              </a:rPr>
              <a:t>자료: 통계청, 2025년 가계금융복지조사 부록 통계표. 순자산은 2025년, 가구소득은 2024년 기준.</a:t>
            </a:r>
          </a:p>
        </p:txBody>
      </p:sp>
    </p:spTree>
    <p:extLst>
      <p:ext uri="{BB962C8B-B14F-4D97-AF65-F5344CB8AC3E}">
        <p14:creationId xmlns:p14="http://schemas.microsoft.com/office/powerpoint/2010/main" val="1240284861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AF9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38FD74EB-B6BA-4074-9C22-78D830B62D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23850"/>
            <a:ext cx="247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2F7D95"/>
                </a:solidFill>
              </a:defRPr>
            </a:pPr>
            <a:r>
              <a:rPr sz="1200" b="1">
                <a:solidFill>
                  <a:srgbClr val="2F7D95"/>
                </a:solidFill>
              </a:rPr>
              <a:t>08 | 경제적 배경 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B95186F-7A7E-4DFA-8A1B-DB7D7A66E4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85800"/>
            <a:ext cx="10668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222222"/>
                </a:solidFill>
              </a:defRPr>
            </a:pPr>
            <a:r>
              <a:rPr sz="2700" b="1">
                <a:solidFill>
                  <a:srgbClr val="222222"/>
                </a:solidFill>
              </a:rPr>
              <a:t>지금 잘 버는 것과 이미 쌓아둔 것은 같은 지표가 아니다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BE865DC-FC0B-4633-86E5-A9E7354649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238250"/>
            <a:ext cx="10668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2F7D95"/>
                </a:solidFill>
              </a:defRPr>
            </a:pPr>
            <a:r>
              <a:rPr sz="1425" b="0">
                <a:solidFill>
                  <a:srgbClr val="2F7D95"/>
                </a:solidFill>
              </a:rPr>
              <a:t>소득과 순자산은 관련되어 있지만 완전히 일치하지 않는다.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C876F92-ADC6-4039-8D9A-F25D2E7A78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828800"/>
            <a:ext cx="2266950" cy="10668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E7F2E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2987C9F-FFF9-4766-BF9A-CA6E7B3E42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038350"/>
            <a:ext cx="16954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550" b="1">
                <a:solidFill>
                  <a:srgbClr val="2F7D95"/>
                </a:solidFill>
              </a:defRPr>
            </a:pPr>
            <a:r>
              <a:rPr sz="2550" b="1">
                <a:solidFill>
                  <a:srgbClr val="2F7D95"/>
                </a:solidFill>
              </a:rPr>
              <a:t>5.67%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9131083-DCE3-4EFB-80BF-388CFA6FA3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457450"/>
            <a:ext cx="16954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6F6F6F"/>
                </a:solidFill>
              </a:defRPr>
            </a:pPr>
            <a:r>
              <a:rPr sz="1200" b="0">
                <a:solidFill>
                  <a:srgbClr val="6F6F6F"/>
                </a:solidFill>
              </a:rPr>
              <a:t>소득 상위40%</a:t>
            </a:r>
          </a:p>
          <a:p xmlns:a="http://schemas.openxmlformats.org/drawingml/2006/main">
            <a:pPr algn="ctr">
              <a:defRPr sz="1200" b="0">
                <a:solidFill>
                  <a:srgbClr val="6F6F6F"/>
                </a:solidFill>
              </a:defRPr>
            </a:pPr>
            <a:r>
              <a:rPr sz="1200" b="0">
                <a:solidFill>
                  <a:srgbClr val="6F6F6F"/>
                </a:solidFill>
              </a:rPr>
              <a:t>+ 순자산 하위40%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F904029-C77C-4A1E-B965-197108A907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0" y="1828800"/>
            <a:ext cx="2266950" cy="10668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5EAE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AC91E15-8CA2-4B79-A48D-6A4037E914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6150" y="2038350"/>
            <a:ext cx="16954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550" b="1">
                <a:solidFill>
                  <a:srgbClr val="C65A3A"/>
                </a:solidFill>
              </a:defRPr>
            </a:pPr>
            <a:r>
              <a:rPr sz="2550" b="1">
                <a:solidFill>
                  <a:srgbClr val="C65A3A"/>
                </a:solidFill>
              </a:rPr>
              <a:t>6.86%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D1993B0-3AC6-4842-BAEA-3ABCFB6BBE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6150" y="2457450"/>
            <a:ext cx="16954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6F6F6F"/>
                </a:solidFill>
              </a:defRPr>
            </a:pPr>
            <a:r>
              <a:rPr sz="1200" b="0">
                <a:solidFill>
                  <a:srgbClr val="6F6F6F"/>
                </a:solidFill>
              </a:rPr>
              <a:t>소득 하위40%</a:t>
            </a:r>
          </a:p>
          <a:p xmlns:a="http://schemas.openxmlformats.org/drawingml/2006/main">
            <a:pPr algn="ctr">
              <a:defRPr sz="1200" b="0">
                <a:solidFill>
                  <a:srgbClr val="6F6F6F"/>
                </a:solidFill>
              </a:defRPr>
            </a:pPr>
            <a:r>
              <a:rPr sz="1200" b="0">
                <a:solidFill>
                  <a:srgbClr val="6F6F6F"/>
                </a:solidFill>
              </a:rPr>
              <a:t>+ 순자산 상위40%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011CB43-4BDA-49D2-A8D7-039CD7EAC6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95950" y="1828800"/>
            <a:ext cx="2266950" cy="10668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0F2F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CB7F4E4-CEEE-478B-881C-1CBF9FCCF1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2038350"/>
            <a:ext cx="16954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700" b="1">
                <a:solidFill>
                  <a:srgbClr val="222222"/>
                </a:solidFill>
              </a:defRPr>
            </a:pPr>
            <a:r>
              <a:rPr sz="2700" b="1">
                <a:solidFill>
                  <a:srgbClr val="222222"/>
                </a:solidFill>
              </a:rPr>
              <a:t>0.574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837D30E-111F-473F-93F8-D046935A58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2457450"/>
            <a:ext cx="16954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6F6F6F"/>
                </a:solidFill>
              </a:defRPr>
            </a:pPr>
            <a:r>
              <a:rPr sz="1200" b="0">
                <a:solidFill>
                  <a:srgbClr val="6F6F6F"/>
                </a:solidFill>
              </a:rPr>
              <a:t>소득-순자산</a:t>
            </a:r>
          </a:p>
          <a:p xmlns:a="http://schemas.openxmlformats.org/drawingml/2006/main">
            <a:pPr algn="ctr">
              <a:defRPr sz="1200" b="0">
                <a:solidFill>
                  <a:srgbClr val="6F6F6F"/>
                </a:solidFill>
              </a:defRPr>
            </a:pPr>
            <a:r>
              <a:rPr sz="1200" b="0">
                <a:solidFill>
                  <a:srgbClr val="6F6F6F"/>
                </a:solidFill>
              </a:rPr>
              <a:t>가중 분위상관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87ED398-C19E-449B-BCB8-ED3CA124F2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1828800"/>
            <a:ext cx="2266950" cy="10668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1EAF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13975A4-45DC-416F-9F4E-6F23D8A2B8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2038350"/>
            <a:ext cx="16954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550" b="1">
                <a:solidFill>
                  <a:srgbClr val="7C579A"/>
                </a:solidFill>
              </a:defRPr>
            </a:pPr>
            <a:r>
              <a:rPr sz="2550" b="1">
                <a:solidFill>
                  <a:srgbClr val="7C579A"/>
                </a:solidFill>
              </a:rPr>
              <a:t>0.318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AD9B9D1-11E2-45D8-9D33-07913CC008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2457450"/>
            <a:ext cx="16954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6F6F6F"/>
                </a:solidFill>
              </a:defRPr>
            </a:pPr>
            <a:r>
              <a:rPr sz="1200" b="0">
                <a:solidFill>
                  <a:srgbClr val="6F6F6F"/>
                </a:solidFill>
              </a:rPr>
              <a:t>Cramer's V</a:t>
            </a:r>
          </a:p>
          <a:p xmlns:a="http://schemas.openxmlformats.org/drawingml/2006/main">
            <a:pPr algn="ctr">
              <a:defRPr sz="1200" b="0">
                <a:solidFill>
                  <a:srgbClr val="6F6F6F"/>
                </a:solidFill>
              </a:defRPr>
            </a:pPr>
            <a:r>
              <a:rPr sz="1200" b="0">
                <a:solidFill>
                  <a:srgbClr val="6F6F6F"/>
                </a:solidFill>
              </a:rPr>
              <a:t>관련성 크기</a:t>
            </a:r>
          </a:p>
        </p:txBody>
      </p:sp>
      <p:pic>
        <p:nvPicPr>
          <p:cNvPr id="3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d4c9d0342e347ce"/>
          <a:stretch xmlns:a="http://schemas.openxmlformats.org/drawingml/2006/main"/>
        </p:blipFill>
        <p:spPr>
          <a:xfrm xmlns:a="http://schemas.openxmlformats.org/drawingml/2006/main">
            <a:off x="1739521" y="3238500"/>
            <a:ext cx="4483858" cy="2667000"/>
          </a:xfrm>
          <a:prstGeom xmlns:a="http://schemas.openxmlformats.org/drawingml/2006/main" prst="roundRect">
            <a:avLst>
              <a:gd name="adj" fmla="val 4286"/>
            </a:avLst>
          </a:prstGeom>
        </p:spPr>
      </p:pic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E6E536E-5DB4-455F-AE91-2E1030D5E5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3476625"/>
            <a:ext cx="3429000" cy="1619250"/>
          </a:xfrm>
          <a:prstGeom xmlns:a="http://schemas.openxmlformats.org/drawingml/2006/main" prst="roundRect">
            <a:avLst>
              <a:gd name="adj" fmla="val 9412"/>
            </a:avLst>
          </a:prstGeom>
          <a:solidFill xmlns:a="http://schemas.openxmlformats.org/drawingml/2006/main">
            <a:srgbClr val="E7F2E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68A7DCD-2E6D-4AE4-996B-BE4ED010C9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3733800"/>
            <a:ext cx="2667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2F7D95"/>
                </a:solidFill>
              </a:defRPr>
            </a:pPr>
            <a:r>
              <a:rPr sz="1800" b="1">
                <a:solidFill>
                  <a:srgbClr val="2F7D95"/>
                </a:solidFill>
              </a:rPr>
              <a:t>60세 이상 해석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96A5169-4C2A-45C8-8712-B3ECD09CDB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4229100"/>
            <a:ext cx="2857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222222"/>
                </a:solidFill>
              </a:defRPr>
            </a:pPr>
            <a:r>
              <a:rPr sz="1500" b="0">
                <a:solidFill>
                  <a:srgbClr val="222222"/>
                </a:solidFill>
              </a:rPr>
              <a:t>소득 하위·순자산 상위 비율은</a:t>
            </a:r>
          </a:p>
          <a:p xmlns:a="http://schemas.openxmlformats.org/drawingml/2006/main">
            <a:pPr algn="l">
              <a:defRPr sz="1500" b="0">
                <a:solidFill>
                  <a:srgbClr val="222222"/>
                </a:solidFill>
              </a:defRPr>
            </a:pPr>
            <a:r>
              <a:rPr sz="1500" b="0">
                <a:solidFill>
                  <a:srgbClr val="222222"/>
                </a:solidFill>
              </a:rPr>
              <a:t>은퇴와 생애주기 효과를</a:t>
            </a:r>
          </a:p>
          <a:p xmlns:a="http://schemas.openxmlformats.org/drawingml/2006/main">
            <a:pPr algn="l">
              <a:defRPr sz="1500" b="0">
                <a:solidFill>
                  <a:srgbClr val="222222"/>
                </a:solidFill>
              </a:defRPr>
            </a:pPr>
            <a:r>
              <a:rPr sz="1500" b="0">
                <a:solidFill>
                  <a:srgbClr val="222222"/>
                </a:solidFill>
              </a:rPr>
              <a:t>반영할 수 있다.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3C3E82E-5B30-4AB5-9A15-6F1DB99577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96050"/>
            <a:ext cx="11277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F6F6F"/>
                </a:solidFill>
              </a:defRPr>
            </a:pPr>
            <a:r>
              <a:rPr sz="900" b="0">
                <a:solidFill>
                  <a:srgbClr val="6F6F6F"/>
                </a:solidFill>
              </a:rPr>
              <a:t>자료: 통계청 MDIS, 가계금융복지조사 2025 가구마스터. 가중값 적용.</a:t>
            </a:r>
          </a:p>
        </p:txBody>
      </p:sp>
    </p:spTree>
    <p:extLst>
      <p:ext uri="{BB962C8B-B14F-4D97-AF65-F5344CB8AC3E}">
        <p14:creationId xmlns:p14="http://schemas.microsoft.com/office/powerpoint/2010/main" val="1524391560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AF9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51ABAC5B-BC72-4C78-89AB-E66C3DA881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23850"/>
            <a:ext cx="247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2F7D95"/>
                </a:solidFill>
              </a:defRPr>
            </a:pPr>
            <a:r>
              <a:rPr sz="1200" b="1">
                <a:solidFill>
                  <a:srgbClr val="2F7D95"/>
                </a:solidFill>
              </a:rPr>
              <a:t>09 | 토의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6D244D1-651A-499C-B43F-A2D4EC3B12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85800"/>
            <a:ext cx="10668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222222"/>
                </a:solidFill>
              </a:defRPr>
            </a:pPr>
            <a:r>
              <a:rPr sz="2700" b="1">
                <a:solidFill>
                  <a:srgbClr val="222222"/>
                </a:solidFill>
              </a:rPr>
              <a:t>데이터는 무엇을 말하고, 무엇을 말하지 않는가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1956A08-4120-4C87-8BBB-2092020EAC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238250"/>
            <a:ext cx="10668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2F7D95"/>
                </a:solidFill>
              </a:defRPr>
            </a:pPr>
            <a:r>
              <a:rPr sz="1425" b="0">
                <a:solidFill>
                  <a:srgbClr val="2F7D95"/>
                </a:solidFill>
              </a:rPr>
              <a:t>토의의 핵심은 결과의 범위를 정확히 제한하는 것이다.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5D61E2F-817A-4827-9A7B-58436930A3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000250"/>
            <a:ext cx="4762500" cy="3143250"/>
          </a:xfrm>
          <a:prstGeom xmlns:a="http://schemas.openxmlformats.org/drawingml/2006/main" prst="roundRect">
            <a:avLst>
              <a:gd name="adj" fmla="val 4848"/>
            </a:avLst>
          </a:prstGeom>
          <a:solidFill xmlns:a="http://schemas.openxmlformats.org/drawingml/2006/main">
            <a:srgbClr val="E7F2E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95ABE93-A6BA-4639-8C3A-6E5BD241DF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2324100"/>
            <a:ext cx="4000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2F7D95"/>
                </a:solidFill>
              </a:defRPr>
            </a:pPr>
            <a:r>
              <a:rPr sz="1950" b="1">
                <a:solidFill>
                  <a:srgbClr val="2F7D95"/>
                </a:solidFill>
              </a:rPr>
              <a:t>데이터가 말하는 것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C061E04-AE2B-4606-BF36-AE0D464773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302895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7D9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D4D2935-C258-4E86-AD37-E7061DC582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2952750"/>
            <a:ext cx="35814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222222"/>
                </a:solidFill>
              </a:defRPr>
            </a:pPr>
            <a:r>
              <a:rPr sz="1350" b="0">
                <a:solidFill>
                  <a:srgbClr val="222222"/>
                </a:solidFill>
              </a:rPr>
              <a:t>노력은 여전히 매우 높게 중요하다.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896DE38-4FAA-4640-876B-F8AFC817F9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347662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7D9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C68A306-06B7-4DD1-A0C9-A1C3A80517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3400425"/>
            <a:ext cx="35814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222222"/>
                </a:solidFill>
              </a:defRPr>
            </a:pPr>
            <a:r>
              <a:rPr sz="1350" b="0">
                <a:solidFill>
                  <a:srgbClr val="222222"/>
                </a:solidFill>
              </a:rPr>
              <a:t>관계 자본과 가족 배경도 높게 인식된다.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6A1411D-EB8D-4AC5-9ED9-A26D27CA00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392430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7D9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9ABBC72-010F-49D8-9E70-2E41DEE9C2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3848100"/>
            <a:ext cx="35814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222222"/>
                </a:solidFill>
              </a:defRPr>
            </a:pPr>
            <a:r>
              <a:rPr sz="1350" b="0">
                <a:solidFill>
                  <a:srgbClr val="222222"/>
                </a:solidFill>
              </a:rPr>
              <a:t>배경·관계 조건의 중요 인식은 상승했다.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FBCE31D-B85D-450A-ADF2-B0404D0A0E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437197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7D9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67C09D6-3A45-4D72-B22C-D985997DFD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4295775"/>
            <a:ext cx="35814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222222"/>
                </a:solidFill>
              </a:defRPr>
            </a:pPr>
            <a:r>
              <a:rPr sz="1350" b="0">
                <a:solidFill>
                  <a:srgbClr val="222222"/>
                </a:solidFill>
              </a:rPr>
              <a:t>소득과 순자산은 완전히 같은 지표가 아니다.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CD49711-E961-4FE8-BBAC-D2BFE88E70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2000250"/>
            <a:ext cx="4762500" cy="3143250"/>
          </a:xfrm>
          <a:prstGeom xmlns:a="http://schemas.openxmlformats.org/drawingml/2006/main" prst="roundRect">
            <a:avLst>
              <a:gd name="adj" fmla="val 4848"/>
            </a:avLst>
          </a:prstGeom>
          <a:solidFill xmlns:a="http://schemas.openxmlformats.org/drawingml/2006/main">
            <a:srgbClr val="F5EAE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67F1139-4649-4BEB-BD76-3364434D96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2324100"/>
            <a:ext cx="4000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C65A3A"/>
                </a:solidFill>
              </a:defRPr>
            </a:pPr>
            <a:r>
              <a:rPr sz="1950" b="1">
                <a:solidFill>
                  <a:srgbClr val="C65A3A"/>
                </a:solidFill>
              </a:rPr>
              <a:t>데이터가 말하지 않는 것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DCE28D2-A9ED-4EFA-91D5-64C75069CF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4200" y="302895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7D9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97B2F41-2320-4C9C-8667-F667288DAE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2952750"/>
            <a:ext cx="35814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222222"/>
                </a:solidFill>
              </a:defRPr>
            </a:pPr>
            <a:r>
              <a:rPr sz="1350" b="0">
                <a:solidFill>
                  <a:srgbClr val="222222"/>
                </a:solidFill>
              </a:rPr>
              <a:t>실제 성공의 원인을 검증하지 않는다.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9AF12ED-4E16-42DC-8529-5B867E6A9E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4200" y="347662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7D9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5949DD7-A47A-407D-94BC-9E147EA0FB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3400425"/>
            <a:ext cx="35814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222222"/>
                </a:solidFill>
              </a:defRPr>
            </a:pPr>
            <a:r>
              <a:rPr sz="1350" b="0">
                <a:solidFill>
                  <a:srgbClr val="222222"/>
                </a:solidFill>
              </a:rPr>
              <a:t>자산 격차가 인식 변화를 일으켰다고 말하지 않는다.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2783009-150E-40DF-8A3C-524C7C7F23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4200" y="392430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7D9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8421AB2-7208-40FE-A524-2480A6165C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3848100"/>
            <a:ext cx="35814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222222"/>
                </a:solidFill>
              </a:defRPr>
            </a:pPr>
            <a:r>
              <a:rPr sz="1350" b="0">
                <a:solidFill>
                  <a:srgbClr val="222222"/>
                </a:solidFill>
              </a:rPr>
              <a:t>청년층의 ‘노력 포기’를 증명하지 않는다.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2DDFCFF-154B-497B-821B-0DFFCDEC7C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4200" y="437197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7D9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7516429-216E-49B9-B68C-ECB7CB47F6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4295775"/>
            <a:ext cx="35814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222222"/>
                </a:solidFill>
              </a:defRPr>
            </a:pPr>
            <a:r>
              <a:rPr sz="1350" b="0">
                <a:solidFill>
                  <a:srgbClr val="222222"/>
                </a:solidFill>
              </a:rPr>
              <a:t>세대 효과와 생애주기 효과를 완전히 분리하지 않는다.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0BB821E-11A3-4350-A26B-4AF258469D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96050"/>
            <a:ext cx="11277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F6F6F"/>
                </a:solidFill>
              </a:defRPr>
            </a:pPr>
            <a:r>
              <a:rPr sz="900" b="0">
                <a:solidFill>
                  <a:srgbClr val="6F6F6F"/>
                </a:solidFill>
              </a:rPr>
              <a:t>자료: 한국종합사회조사(KGSS) 2003-2025 누적자료 및 통계청 가계금융복지조사. 개인 식별 정보 없음.</a:t>
            </a:r>
          </a:p>
        </p:txBody>
      </p:sp>
    </p:spTree>
    <p:extLst>
      <p:ext uri="{BB962C8B-B14F-4D97-AF65-F5344CB8AC3E}">
        <p14:creationId xmlns:p14="http://schemas.microsoft.com/office/powerpoint/2010/main" val="1527173519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AF9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B000801A-6815-4954-A9C9-519347FE5E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23850"/>
            <a:ext cx="247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2F7D95"/>
                </a:solidFill>
              </a:defRPr>
            </a:pPr>
            <a:r>
              <a:rPr sz="1200" b="1">
                <a:solidFill>
                  <a:srgbClr val="2F7D95"/>
                </a:solidFill>
              </a:rPr>
              <a:t>10 | 결론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FAEF194-4460-4A10-891C-ECEFD1501A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85800"/>
            <a:ext cx="10668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222222"/>
                </a:solidFill>
              </a:defRPr>
            </a:pPr>
            <a:r>
              <a:rPr sz="2700" b="1">
                <a:solidFill>
                  <a:srgbClr val="222222"/>
                </a:solidFill>
              </a:rPr>
              <a:t>결론: 성공 공식은 노력 하나로 설명되지 않는다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0A1D54F-FF8E-43C4-B070-84179CEEFA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1952625"/>
            <a:ext cx="10287000" cy="1047750"/>
          </a:xfrm>
          <a:prstGeom xmlns:a="http://schemas.openxmlformats.org/drawingml/2006/main" prst="roundRect">
            <a:avLst>
              <a:gd name="adj" fmla="val 14545"/>
            </a:avLst>
          </a:prstGeom>
          <a:solidFill xmlns:a="http://schemas.openxmlformats.org/drawingml/2006/main">
            <a:srgbClr val="E7F2E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364CEC4-661F-4997-AFE7-E5C7F26E9C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2095500"/>
            <a:ext cx="96202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222222"/>
                </a:solidFill>
              </a:defRPr>
            </a:pPr>
            <a:r>
              <a:rPr sz="2250" b="1">
                <a:solidFill>
                  <a:srgbClr val="222222"/>
                </a:solidFill>
              </a:rPr>
              <a:t>약해진 것은 노력의 가치가 아니라,</a:t>
            </a:r>
          </a:p>
          <a:p xmlns:a="http://schemas.openxmlformats.org/drawingml/2006/main">
            <a:pPr algn="ctr">
              <a:defRPr sz="2250" b="1">
                <a:solidFill>
                  <a:srgbClr val="222222"/>
                </a:solidFill>
              </a:defRPr>
            </a:pPr>
            <a:r>
              <a:rPr sz="2250" b="1">
                <a:solidFill>
                  <a:srgbClr val="222222"/>
                </a:solidFill>
              </a:rPr>
              <a:t>성공을 노력 하나로 설명할 수 있다는 단순한 공식이다.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209740E-6A6E-4A69-90AA-23F16671EB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619500"/>
            <a:ext cx="2362200" cy="1257300"/>
          </a:xfrm>
          <a:prstGeom xmlns:a="http://schemas.openxmlformats.org/drawingml/2006/main" prst="roundRect">
            <a:avLst>
              <a:gd name="adj" fmla="val 1212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DDDD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93C353F-A688-4282-8B36-4F02F6CF75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619500"/>
            <a:ext cx="23622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7D9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E69B453-B261-4596-A1BA-73044004BC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981450"/>
            <a:ext cx="19812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222222"/>
                </a:solidFill>
              </a:defRPr>
            </a:pPr>
            <a:r>
              <a:rPr sz="1800" b="1">
                <a:solidFill>
                  <a:srgbClr val="222222"/>
                </a:solidFill>
              </a:rPr>
              <a:t>노력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37D746E-5E72-4EA7-B908-D6C367DC90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438650"/>
            <a:ext cx="19812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6F6F6F"/>
                </a:solidFill>
              </a:defRPr>
            </a:pPr>
            <a:r>
              <a:rPr sz="1200" b="0">
                <a:solidFill>
                  <a:srgbClr val="6F6F6F"/>
                </a:solidFill>
              </a:rPr>
              <a:t>여전히 거의 포화 수준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E7403E2-F221-4F11-ACFC-7AA363346D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3619500"/>
            <a:ext cx="2362200" cy="1257300"/>
          </a:xfrm>
          <a:prstGeom xmlns:a="http://schemas.openxmlformats.org/drawingml/2006/main" prst="roundRect">
            <a:avLst>
              <a:gd name="adj" fmla="val 1212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DDDD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2CD3CC1-ECDF-45C9-9EB8-C016A2273A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3619500"/>
            <a:ext cx="23622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C7F5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C466F5C-47A5-4000-8627-C45217AD60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8100" y="3981450"/>
            <a:ext cx="19812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222222"/>
                </a:solidFill>
              </a:defRPr>
            </a:pPr>
            <a:r>
              <a:rPr sz="1800" b="1">
                <a:solidFill>
                  <a:srgbClr val="222222"/>
                </a:solidFill>
              </a:rPr>
              <a:t>관계 자본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A8806BD-FC98-4F28-8F6F-24BCD23557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8100" y="4438650"/>
            <a:ext cx="19812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6F6F6F"/>
                </a:solidFill>
              </a:defRPr>
            </a:pPr>
            <a:r>
              <a:rPr sz="1200" b="0">
                <a:solidFill>
                  <a:srgbClr val="6F6F6F"/>
                </a:solidFill>
              </a:rPr>
              <a:t>좋은 사람을 아는 것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777B68C-4AD1-4C37-802F-B83BF20C14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3619500"/>
            <a:ext cx="2362200" cy="1257300"/>
          </a:xfrm>
          <a:prstGeom xmlns:a="http://schemas.openxmlformats.org/drawingml/2006/main" prst="roundRect">
            <a:avLst>
              <a:gd name="adj" fmla="val 1212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DDDD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52E8543-CDA0-4A2C-9D12-FDD367C8FA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3619500"/>
            <a:ext cx="23622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65A3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E644174-98AF-4CDD-A3CA-C004046ED0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3981450"/>
            <a:ext cx="19812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222222"/>
                </a:solidFill>
              </a:defRPr>
            </a:pPr>
            <a:r>
              <a:rPr sz="1800" b="1">
                <a:solidFill>
                  <a:srgbClr val="222222"/>
                </a:solidFill>
              </a:rPr>
              <a:t>가족 배경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AEEB4ED-010A-4AD2-AB78-76B8E08324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4438650"/>
            <a:ext cx="19812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6F6F6F"/>
                </a:solidFill>
              </a:defRPr>
            </a:pPr>
            <a:r>
              <a:rPr sz="1200" b="0">
                <a:solidFill>
                  <a:srgbClr val="6F6F6F"/>
                </a:solidFill>
              </a:rPr>
              <a:t>부유한 집안·부모 교육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7879389-E3AD-4B7D-8BDE-A203C7AC52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0200" y="3619500"/>
            <a:ext cx="2362200" cy="1257300"/>
          </a:xfrm>
          <a:prstGeom xmlns:a="http://schemas.openxmlformats.org/drawingml/2006/main" prst="roundRect">
            <a:avLst>
              <a:gd name="adj" fmla="val 1212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DDDD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314E506-A4F4-494D-81E5-154CEA20BA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0200" y="3619500"/>
            <a:ext cx="23622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8A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C28B60B-2B68-4FB9-B5D9-3F55FB19D2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0700" y="3981450"/>
            <a:ext cx="19812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222222"/>
                </a:solidFill>
              </a:defRPr>
            </a:pPr>
            <a:r>
              <a:rPr sz="1800" b="1">
                <a:solidFill>
                  <a:srgbClr val="222222"/>
                </a:solidFill>
              </a:rPr>
              <a:t>축적 자산 조건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D16793D-41E3-4DED-BA2D-61A9EC1CAB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0700" y="4438650"/>
            <a:ext cx="19812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6F6F6F"/>
                </a:solidFill>
              </a:defRPr>
            </a:pPr>
            <a:r>
              <a:rPr sz="1200" b="0">
                <a:solidFill>
                  <a:srgbClr val="6F6F6F"/>
                </a:solidFill>
              </a:rPr>
              <a:t>현재 소득과 다른 시간축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3584977-EEA5-4118-850B-17B81C97EF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5572125"/>
            <a:ext cx="9048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2F7D95"/>
                </a:solidFill>
              </a:defRPr>
            </a:pPr>
            <a:r>
              <a:rPr sz="1800" b="1">
                <a:solidFill>
                  <a:srgbClr val="2F7D95"/>
                </a:solidFill>
              </a:rPr>
              <a:t>결론은 ‘노력의 몰락’이 아니라 ‘성공 공식의 복합화’다.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E02F374-F57A-46FF-8014-9CCE4EDC95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96050"/>
            <a:ext cx="11277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F6F6F"/>
                </a:solidFill>
              </a:defRPr>
            </a:pPr>
            <a:r>
              <a:rPr sz="900" b="0">
                <a:solidFill>
                  <a:srgbClr val="6F6F6F"/>
                </a:solidFill>
              </a:rPr>
              <a:t>자료: 한국종합사회조사(KGSS) 2003-2025 누적자료 및 통계청 가계금융복지조사. 개인 식별 정보 없음.</a:t>
            </a:r>
          </a:p>
        </p:txBody>
      </p:sp>
    </p:spTree>
    <p:extLst>
      <p:ext uri="{BB962C8B-B14F-4D97-AF65-F5344CB8AC3E}">
        <p14:creationId xmlns:p14="http://schemas.microsoft.com/office/powerpoint/2010/main" val="605632331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AF9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3337AE43-B413-4AE3-93AF-1425693B5B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8572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222222"/>
                </a:solidFill>
              </a:defRPr>
            </a:pPr>
            <a:r>
              <a:rPr sz="3000" b="1">
                <a:solidFill>
                  <a:srgbClr val="222222"/>
                </a:solidFill>
              </a:rPr>
              <a:t>참고문헌 및 자료 출처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4BCD07D-0807-4711-AC13-EEE833E202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55257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7D9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7B359D7-5313-4904-B6D5-17BF33E893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1476375"/>
            <a:ext cx="101536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222222"/>
                </a:solidFill>
              </a:defRPr>
            </a:pPr>
            <a:r>
              <a:rPr sz="1350" b="0">
                <a:solidFill>
                  <a:srgbClr val="222222"/>
                </a:solidFill>
              </a:rPr>
              <a:t>한국종합사회조사(KGSS) 2003-2025 누적자료, Korean General Social Survey, 2003-2025 Cumulative File, KOSSDA, 자료번호 A1-CUM-0074.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8D0B467-B024-4B7F-80AE-10DF375FFE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20027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7D9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18A0B32-CFD6-4CA4-B068-9BFAFFEC8E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124075"/>
            <a:ext cx="101536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222222"/>
                </a:solidFill>
              </a:defRPr>
            </a:pPr>
            <a:r>
              <a:rPr sz="1350" b="0">
                <a:solidFill>
                  <a:srgbClr val="222222"/>
                </a:solidFill>
              </a:rPr>
              <a:t>성균관대학교 서베이리서치센터(SRC), 한국종합사회조사 연구수행기관.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D5AE9A8-9A21-482A-976B-DC2FF63ADD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84797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7D9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DF3BE96-FABB-41D9-AB47-720FEDA568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771775"/>
            <a:ext cx="101536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222222"/>
                </a:solidFill>
              </a:defRPr>
            </a:pPr>
            <a:r>
              <a:rPr sz="1350" b="0">
                <a:solidFill>
                  <a:srgbClr val="222222"/>
                </a:solidFill>
              </a:rPr>
              <a:t>통계청, 2025년 가계금융복지조사 부록 통계표.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B0B2B42-7C9B-4E4D-8630-4FB9387F0B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49567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7D9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B18EF41-CF9A-42A8-A318-7F06BFB57B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419475"/>
            <a:ext cx="101536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222222"/>
                </a:solidFill>
              </a:defRPr>
            </a:pPr>
            <a:r>
              <a:rPr sz="1350" b="0">
                <a:solidFill>
                  <a:srgbClr val="222222"/>
                </a:solidFill>
              </a:rPr>
              <a:t>통계청 MDIS, 가계금융복지조사 2025 가구마스터(제공), CSV(항목명포함).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3455F40-5DFB-48A9-A16D-66BECB78EB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14337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7D9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7A9C66B-53D2-42EB-AA0A-89DF64073A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4067175"/>
            <a:ext cx="101536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222222"/>
                </a:solidFill>
              </a:defRPr>
            </a:pPr>
            <a:r>
              <a:rPr sz="1350" b="0">
                <a:solidFill>
                  <a:srgbClr val="222222"/>
                </a:solidFill>
              </a:rPr>
              <a:t>OECD, A Broken Social Elevator: How to Promote Social Mobility, 2018.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D087FE8-90C0-4BEB-AEAD-AC8CB45D33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79107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7D9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795B770-8E0C-4F74-9700-55F15C5935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4714875"/>
            <a:ext cx="101536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222222"/>
                </a:solidFill>
              </a:defRPr>
            </a:pPr>
            <a:r>
              <a:rPr sz="1350" b="0">
                <a:solidFill>
                  <a:srgbClr val="222222"/>
                </a:solidFill>
              </a:rPr>
              <a:t>분석 도구: Python, pandas, matplotlib, scipy, Jupyter Notebook, Canva.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A2D6E69-F897-4E93-A3DB-8DAE04A0A8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6096000"/>
            <a:ext cx="9525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C65A3A"/>
                </a:solidFill>
              </a:defRPr>
            </a:pPr>
            <a:r>
              <a:rPr sz="1275" b="1">
                <a:solidFill>
                  <a:srgbClr val="C65A3A"/>
                </a:solidFill>
              </a:rPr>
              <a:t>주: 제출물에는 참가자 이름, 소속 등 개인 식별 정보를 기입하지 않음.</a:t>
            </a:r>
          </a:p>
        </p:txBody>
      </p:sp>
    </p:spTree>
    <p:extLst>
      <p:ext uri="{BB962C8B-B14F-4D97-AF65-F5344CB8AC3E}">
        <p14:creationId xmlns:p14="http://schemas.microsoft.com/office/powerpoint/2010/main" val="1149495414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2026-06-29T14:51:10.0180000Z</dcterms:created>
  <dcterms:modified xsi:type="dcterms:W3CDTF">2026-06-29T14:51:10.0180000Z</dcterms:modified>
</coreProperties>
</file>